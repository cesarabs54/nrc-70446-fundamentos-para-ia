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31"/>
  </p:notesMasterIdLst>
  <p:sldIdLst>
    <p:sldId id="341" r:id="rId3"/>
    <p:sldId id="342" r:id="rId4"/>
    <p:sldId id="333" r:id="rId5"/>
    <p:sldId id="343" r:id="rId6"/>
    <p:sldId id="344" r:id="rId7"/>
    <p:sldId id="345" r:id="rId8"/>
    <p:sldId id="346" r:id="rId9"/>
    <p:sldId id="356" r:id="rId10"/>
    <p:sldId id="357" r:id="rId11"/>
    <p:sldId id="358" r:id="rId12"/>
    <p:sldId id="360" r:id="rId13"/>
    <p:sldId id="359" r:id="rId14"/>
    <p:sldId id="361" r:id="rId15"/>
    <p:sldId id="362" r:id="rId16"/>
    <p:sldId id="363" r:id="rId17"/>
    <p:sldId id="364" r:id="rId18"/>
    <p:sldId id="365" r:id="rId19"/>
    <p:sldId id="355" r:id="rId20"/>
    <p:sldId id="347" r:id="rId21"/>
    <p:sldId id="348" r:id="rId22"/>
    <p:sldId id="349" r:id="rId23"/>
    <p:sldId id="350" r:id="rId24"/>
    <p:sldId id="351" r:id="rId25"/>
    <p:sldId id="352" r:id="rId26"/>
    <p:sldId id="353" r:id="rId27"/>
    <p:sldId id="354" r:id="rId28"/>
    <p:sldId id="366" r:id="rId29"/>
    <p:sldId id="340" r:id="rId30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C52C1F-6D6C-3ED2-B73E-A3EBECB4A953}" v="76" dt="2026-07-02T04:55:40.5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1249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C1F3BA-561E-40F8-BA69-B9204D365301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127F4A-87DB-494C-94B7-1D15149278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64697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D114D-178A-465A-B01D-00AE0C2E304C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90552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Definir regresión en general antes de entrar en la logística. Insistir en el vocabulario: variable dependiente vs. independiente.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Puente directo del video: mismo concepto de regresión, pero cambia el tipo de variable dependiente.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Ejemplo central tomado del video (DatTab): enfermedad como variable dicotómica explicada por edad, sexo y hábito de fumar.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Explicar el problema de rango: la recta se sale de [0,1]; se necesita una curva que aplaste el resultado a ese rango.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Mostrar las dos fórmulas del video: primero la función logística genérica, luego z como la ecuación lineal de siempre.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561F6-8881-A657-B154-A5340604C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2B1E78-C4F6-EF44-1A05-2A5D9AC737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6CAF29-5434-2E6E-B0D1-84DD4E44FC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Mostrar las dos fórmulas del video: primero la función logística genérica, luego z como la ecuación lineal de siempre.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BCBBAA-A44B-7680-3728-BC27B267CF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907946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6D4C5-5C27-2DE6-57DE-636FC10B7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572956-7874-0107-1BA0-757CD9AF6F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4171E0-57E9-F2C2-0CEB-CD8DD4AF03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Mostrar las dos fórmulas del video: primero la función logística genérica, luego z como la ecuación lineal de siempre.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1965A4-A41C-582F-29DE-7D25704EF6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645470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8EA95-D92E-74CD-3036-CF4B270D1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067C4E-5926-57CC-C69B-C25DB10EF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0E1318-E074-19AE-1381-507D818190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Mostrar las dos fórmulas del video: primero la función logística genérica, luego z como la ecuación lineal de siempre.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C7F82-AA18-D1C0-5FBC-8B56A9CCC1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053566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6852F-E978-7524-5F0C-7E220F1AF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2CE258-1D5D-BC4B-9200-AB3C496D68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4BB8CD-0E85-2BB9-FB1A-326B66EA1E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Mostrar las dos fórmulas del video: primero la función logística genérica, luego z como la ecuación lineal de siempre.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CF7901-D585-57F9-2F26-C012178FC1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931587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A13DF-6D10-FD6F-545D-F48C27288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8C1FD8-7EEC-AF43-7EA0-857D669401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2AE434-341D-2712-3904-6E748EF7E8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Mostrar las dos fórmulas del video: primero la función logística genérica, luego z como la ecuación lineal de siempre.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CD09FE-FF5A-97AF-F26B-5012809A71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829317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D557C-2A48-B497-EFBE-F7B7020B0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D4BF95-2641-E9E9-EE82-A1217FA4EA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A4A1C3-54B6-93AC-12C6-7016C6188D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Mostrar las dos fórmulas del video: primero la función logística genérica, luego z como la ecuación lineal de siempre.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05456-1A24-93D4-6E2E-24A9192A64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2291831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D47A2-5490-589C-71E5-A18BC84F1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5519E6-B8DF-AFF1-E475-3997B199C8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AC73F3-9D81-0A77-087A-DD320FF98D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Mostrar las dos fórmulas del video: primero la función logística genérica, luego z como la ecuación lineal de siempre.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CE977A-34B7-24C5-37FB-571DA4574F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979562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Basado en el video: 'para ello existen buenos métodos numéricos'; el software (DatTab, numiqo, Python, etc.) hace el cálculo.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Tabla basada en el ejemplo del video: hábito de fumar (B=-1.34, p=0.089, odds ratio=0.26) y edad (odds ratio=1.04).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Reproduce el ejemplo textual del video: mujer de 55 años, fumadora → 69% de probabilidad de estar enferma.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Datos exactos del ejemplo del video: 36 personas, 16 no enfermas (11 bien clasificadas, 5 mal) y 20 enfermas (5 mal, 15 bien) = 72.22%.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Explicar que este chi-cuadrado evalúa el modelo completo, distinto del valor p de cada coeficiente individual (prueba de Wald).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Cerrar con la idea de que la regresión logística es el clasificador binario más usado y la base de clasificadores más avanzados.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Herramienta gratuita en línea para practicar; complementa el ejercicio ya hecho en el video con DatTab.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Cierre de la sesión. Antes de pasar a la diapositiva de agradecimiento, resolver dudas generales.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D6F47-8671-C4C1-FBF9-AD6364990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C89794-FBD4-91AC-9F90-3D701E5230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BC3580-4AA3-5CB1-9A56-CF67FC5D6F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Cierre de la sesión. Antes de pasar a la diapositiva de agradecimiento, resolver dudas generales.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755D-6C11-0479-9D5D-078B555BAC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51697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FE6465-9E2C-F7D1-1025-017C427D60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12FCAB6-F63E-EA0F-01F2-8E3E1C2B78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99D3401-411E-EE18-DCDF-19B6CD4F8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F1AF5F-7707-9BBB-28C2-ECB54EF25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A4DE97-7E1B-9F6C-1FEE-5248F8457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5221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438F18-1C0B-0749-058E-1B0E686BC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53D8DE-7C2E-BD97-A2AA-88F4EE1D1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41F956-2A51-B46A-6C84-292248ABC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987A6C4-FA66-E3C7-C032-D85598F3E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C0D02B-4304-EE2A-7E8C-0B375B0E7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8678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A2CDD2-34BE-1894-DA03-D37983212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FCB16E9-FD19-12B7-D1BA-245A60284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C213C5-1FA3-FA2A-3678-2ADA22CC3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5E7D18-5809-0535-9B55-586792331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40B6F2-CB20-8B3A-9673-FAA2CDC1D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47395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0887D-BAD9-E85D-38D1-19C82452D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A55F1D-7973-0849-FAC7-2ED08D995C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1175A7-F5D8-ADBE-35ED-2EA07ECAC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5B74CC-3C64-9425-489C-24DB5B492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49404E-8840-6F19-6ECE-CBDEE7D3B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B467B64-DB77-85DF-90EC-68DC705D5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81511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C812DA-5830-C2DA-FEC4-9F93505A5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0C15237-094B-515A-A77F-0F30C24DE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B199354-1A5B-0CF0-3712-B0B77DEA31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6B310BE-BFEF-A116-C85B-AC716031C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3A1E757-3A71-28BB-8A9E-ECEA14D187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BF01BB1-AD86-2BA0-55E8-8951173DF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514BB14-7FDE-B22B-DBE5-F68508CF3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4445680-3080-CA10-7F3C-A949E505D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07763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09DD37-5352-2F73-3A29-4538B3E97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B8BDF24-B2D4-B274-E41E-B863DADA0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DFFC90A-39FD-B1DE-A6E9-4C076C92E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9F9A598-81CC-A97C-4ED5-351CC2B2B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4857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8D21982-7EB1-D639-9FE6-2ED2E1E5B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B4BA5B4-1ACB-A6E1-8153-F6017EC08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D3346AA-BB89-908E-34AC-B5C0BB4FD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656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E547-B4C9-54C6-166C-68F57B52C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05AAA1-ED18-5D90-54DF-27F28CDEB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DAB449D-32A1-2028-FDD4-838932A96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4E5BA6E-6660-0920-EEC0-2CE2AA835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B30D8E-B087-EA02-03E2-521DFA491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5C3B8D4-7896-270C-F6AB-532E0B8BE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85407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4AE17D-485A-ECB9-B3CF-28BF2EEDC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86ACA8F-B1F8-B561-1D8A-F688DA253C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CE67B78-E7A8-5297-69F2-9F2F3E2F5D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2791531-116A-C123-A7D4-1AB359D94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E162658-4EB8-E7B1-D7CD-832BF8532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D045AE-C0E6-8B3A-974C-D535A2813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3458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968E0A-C617-9494-7FAF-EE98EDB3E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3F01092-4D79-7865-173C-3380705A5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B4A24B-2361-24B8-088C-8A82963BE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B4E638-2A05-64BB-86B6-F7A751FAA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6CA604-5EC2-B4B2-BCDA-A72C5B4B9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2893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28B9AF1-B843-BB83-C453-61FDF2F92C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F26157F-1794-7926-228C-B16FC0F972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04E3A9-CC90-9107-B985-908B92FF6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EB48AE-EC58-2E10-FC72-45F6A53E4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C0554D-9DB8-83AA-D250-A01E05DD5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994830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ABA8A-E1D6-8CF5-4EB8-ABC9A4AAA1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C35C38-A943-3D17-0E8A-AEA8D5894D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3FEF9-3730-016D-9CDE-3B1B6E193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6FEEA2-2345-6EB2-BCE8-A1B818E87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D0EA5-9047-2BBC-B0D6-50A93267D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690683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4DDAD-4B9A-3ACC-563D-3C1631C36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1317E-A275-EB9C-BB7C-00FA79754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D0F10-D002-7E04-82A2-50D8E20A6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82353-4F01-1FD0-B4A7-09B150A91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E4038-1BBC-367C-A8E8-D8CC65662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654044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770FD-4026-6E72-1D41-6EFB01B03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73CADB-F992-A9C2-D7BB-A1E61939D5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9CFC6-2EAB-BADC-175E-06FDE668E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8583F-18A4-2FBF-47EB-846F783B8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F02BF-9DEF-F8E6-50C2-2BB84E189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533234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A9EC1-C52E-37AE-54FE-02C1046C8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A8148-5BB6-28C8-5D95-C62BAB7324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A9FB9-DB1F-A4BD-DD43-9D4632829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195F19-236F-77B1-8F6A-1F49E2F9E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B90E32-036C-010C-53B3-8F808C24D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21C1AC-E0AD-FEC5-B73C-7E3096A68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23070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1AA49-3836-B9B0-5A83-DBAD55478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D6270B-8F5D-B778-A0A8-DE255CCB5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0B8625-B67B-1C49-DB51-2832243577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8BF7BE-8B07-F480-6FB1-C0377B861F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046F55-A237-1A8D-9BD9-2267FB26A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D6DA49-6ACD-AC40-ADD7-3B1E0D271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4965F3-8D95-9871-4485-EAE28050F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C1580-32B4-42A0-51B6-1D68128E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996283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CA983-83B7-3944-D04E-52A95EF0C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EB081A-5123-25FF-9F69-5C4E95023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A47B4B-5D28-166D-A374-84556A58D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D71D76-47B3-311A-EE8A-9259F4ED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261791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79E274-1368-F3DD-1507-43DB44125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3BD5B2-1814-55AD-CB11-F108A3117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93FC48-3DB3-7045-07A2-27A31271A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53357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4DD91-9253-E181-7E12-C4A7AE32A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7BEBC-EF06-3BDA-0030-EC53CEFE0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8058DF-73E2-3986-019C-050390D673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F7FEDC-715B-59D2-9039-78D10E88E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0371A-4502-3350-D34E-E61E7E86A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9CCF89-3CFC-8E9D-37B0-246D1BB07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992948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701F4-9DCC-00EE-35F4-83E797CEB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4A782E-F114-3F04-3674-2AD88FE121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801783-55EE-4F23-5519-1CF7F5C8F6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8FE1FD-C55C-C36E-EB75-CF0C96AAE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DC4F85-E388-EE6A-1B35-7E6E94E75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7E053E-DDCD-9FDC-C558-F07F86DB7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511226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50787-5B44-1E1E-C98E-17A43385C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9BE95D-8B60-9DC1-5701-BF5437A666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87189-1220-7EF5-7467-74E03D5ED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163B6-94DD-1E0D-6C9E-69E2399E1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2C061-8EC4-0C82-35F6-FB9C4BA3B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058404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861572-E9BE-9B75-33EF-D4B71EA0AF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05A8AB-F7E6-408B-EFB2-A16DB332DE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94DF7-F334-D689-3F9A-C6C035603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45E46-8723-51E6-A678-AC81583BB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A62E8-7C27-3FAE-A4BF-119605893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72509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BC8005C-7059-394A-5A7F-ADC560A00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81F0D5C-0C3B-8E6D-BFE1-56159D559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E041F9-8DD3-E69E-92E5-4B036E7F04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508EDE-BAAD-1743-A60D-6B891320FA45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B60668-6D85-2862-B828-AA14A716B8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B7542E-F1B7-7AC5-E112-1617942BE1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1630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708DFF-3046-6ABB-BDE2-37A69F1AE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5D301-E944-EF85-1B1F-56F83B3E5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7C0A0-D3C7-157B-2681-77207473FC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6194F7-949B-4C16-A53F-8E9583A4A0C5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2C750-38DF-F531-0238-A869F7338F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F002E-F8BD-2A7C-5F20-DC97119BD5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01337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A636AB6E-D708-FC46-3E1B-AD35787DC531}"/>
              </a:ext>
            </a:extLst>
          </p:cNvPr>
          <p:cNvSpPr/>
          <p:nvPr/>
        </p:nvSpPr>
        <p:spPr>
          <a:xfrm>
            <a:off x="0" y="0"/>
            <a:ext cx="12192000" cy="68932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EBE24467-A941-3231-8A3E-21FD4EFF51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9328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BB023E5-08B0-2427-9715-09205CDB1D6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0582" t="36088" r="1507" b="26199"/>
          <a:stretch/>
        </p:blipFill>
        <p:spPr>
          <a:xfrm>
            <a:off x="10060726" y="5395594"/>
            <a:ext cx="1806809" cy="132302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378A125-782B-9B4C-F519-EACF80EA5374}"/>
              </a:ext>
            </a:extLst>
          </p:cNvPr>
          <p:cNvSpPr txBox="1"/>
          <p:nvPr/>
        </p:nvSpPr>
        <p:spPr>
          <a:xfrm>
            <a:off x="4375678" y="5937607"/>
            <a:ext cx="5600856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/>
            <a:r>
              <a:rPr lang="es-CO" noProof="0" dirty="0">
                <a:latin typeface="Century Gothic"/>
              </a:rPr>
              <a:t>FUNDAMENTOS DE IA · NRC 94103</a:t>
            </a:r>
            <a:endParaRPr lang="es-CO" noProof="0" dirty="0"/>
          </a:p>
          <a:p>
            <a:pPr algn="r"/>
            <a:r>
              <a:rPr lang="es-CO" noProof="0" dirty="0">
                <a:latin typeface="Century Gothic"/>
              </a:rPr>
              <a:t>Semana 8 · Agosto 2026</a:t>
            </a:r>
            <a:endParaRPr lang="es-CO" noProof="0" dirty="0">
              <a:latin typeface="Century Gothic" panose="020B0502020202020204" pitchFamily="34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5595C607-E050-1D31-A7F0-5C432315BB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/>
          <a:srcRect l="1043" t="-3087" r="-3874" b="-2265"/>
          <a:stretch/>
        </p:blipFill>
        <p:spPr bwMode="auto">
          <a:xfrm rot="254132">
            <a:off x="1482100" y="1817745"/>
            <a:ext cx="3372018" cy="2165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Imagen 15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2942E92C-F850-AC01-A952-6D862E39B8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533" y="274062"/>
            <a:ext cx="3782002" cy="123679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55B1B1DD-C336-11D0-3F79-3F350C0F38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5294" y="2825567"/>
            <a:ext cx="8120478" cy="1797326"/>
          </a:xfrm>
        </p:spPr>
        <p:txBody>
          <a:bodyPr>
            <a:normAutofit/>
          </a:bodyPr>
          <a:lstStyle/>
          <a:p>
            <a:r>
              <a:rPr lang="es-CO" sz="4000" b="1" noProof="0" dirty="0">
                <a:solidFill>
                  <a:srgbClr val="FFC000"/>
                </a:solidFill>
                <a:latin typeface="Century Gothic"/>
              </a:rPr>
              <a:t>REGRESIÓN LOGÍSTICA: CONCEPTOS BÁSICOS</a:t>
            </a:r>
            <a:endParaRPr lang="es-CO" sz="4400" b="1" noProof="0" dirty="0">
              <a:solidFill>
                <a:srgbClr val="FFC000"/>
              </a:solidFill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695536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ítulo 1">
            <a:extLst>
              <a:ext uri="{FF2B5EF4-FFF2-40B4-BE49-F238E27FC236}">
                <a16:creationId xmlns:a16="http://schemas.microsoft.com/office/drawing/2014/main" id="{F0E97F75-4E8D-4225-ACDC-192F32266A97}"/>
              </a:ext>
            </a:extLst>
          </p:cNvPr>
          <p:cNvSpPr txBox="1">
            <a:spLocks/>
          </p:cNvSpPr>
          <p:nvPr/>
        </p:nvSpPr>
        <p:spPr>
          <a:xfrm>
            <a:off x="622716" y="139272"/>
            <a:ext cx="5913201" cy="55482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rdana"/>
                <a:ea typeface="+mj-ea"/>
                <a:cs typeface="+mj-cs"/>
              </a:rPr>
              <a:t>Tabla de Contenido</a:t>
            </a:r>
          </a:p>
        </p:txBody>
      </p:sp>
      <p:sp>
        <p:nvSpPr>
          <p:cNvPr id="29" name="TextBox 4">
            <a:extLst>
              <a:ext uri="{FF2B5EF4-FFF2-40B4-BE49-F238E27FC236}">
                <a16:creationId xmlns:a16="http://schemas.microsoft.com/office/drawing/2014/main" id="{4AB2D2AB-799F-44C6-A8C2-F98B1C7C105E}"/>
              </a:ext>
            </a:extLst>
          </p:cNvPr>
          <p:cNvSpPr txBox="1"/>
          <p:nvPr/>
        </p:nvSpPr>
        <p:spPr>
          <a:xfrm>
            <a:off x="164505" y="1532450"/>
            <a:ext cx="1292275" cy="63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1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000" b="0" i="0" u="none" strike="noStrike" kern="1200" cap="none" spc="0" normalizeH="0" baseline="0" noProof="0" dirty="0">
                <a:ln>
                  <a:noFill/>
                </a:ln>
                <a:solidFill>
                  <a:srgbClr val="8CA9AD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01.</a:t>
            </a:r>
          </a:p>
        </p:txBody>
      </p:sp>
      <p:sp>
        <p:nvSpPr>
          <p:cNvPr id="30" name="TextBox 5">
            <a:extLst>
              <a:ext uri="{FF2B5EF4-FFF2-40B4-BE49-F238E27FC236}">
                <a16:creationId xmlns:a16="http://schemas.microsoft.com/office/drawing/2014/main" id="{6DE6E35C-B117-43DD-A072-693CA0C8506F}"/>
              </a:ext>
            </a:extLst>
          </p:cNvPr>
          <p:cNvSpPr txBox="1"/>
          <p:nvPr/>
        </p:nvSpPr>
        <p:spPr>
          <a:xfrm>
            <a:off x="164505" y="3132567"/>
            <a:ext cx="1292275" cy="63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1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000" b="0" i="0" u="none" strike="noStrike" kern="1200" cap="none" spc="0" normalizeH="0" baseline="0" noProof="0" dirty="0">
                <a:ln>
                  <a:noFill/>
                </a:ln>
                <a:solidFill>
                  <a:srgbClr val="8CA9AD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02.</a:t>
            </a:r>
          </a:p>
        </p:txBody>
      </p:sp>
      <p:sp>
        <p:nvSpPr>
          <p:cNvPr id="31" name="TextBox 6">
            <a:extLst>
              <a:ext uri="{FF2B5EF4-FFF2-40B4-BE49-F238E27FC236}">
                <a16:creationId xmlns:a16="http://schemas.microsoft.com/office/drawing/2014/main" id="{95FB1313-D0FA-4E96-B4A3-DD20E1991AC4}"/>
              </a:ext>
            </a:extLst>
          </p:cNvPr>
          <p:cNvSpPr txBox="1"/>
          <p:nvPr/>
        </p:nvSpPr>
        <p:spPr>
          <a:xfrm rot="10800000" flipV="1">
            <a:off x="893090" y="1696711"/>
            <a:ext cx="4484296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000" b="0" i="0" u="sng" strike="noStrike" kern="1200" cap="none" spc="0" normalizeH="0" baseline="0" noProof="0" dirty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¿Qué es una regresión?</a:t>
            </a:r>
            <a:endParaRPr kumimoji="0" lang="es-C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TextBox 11">
            <a:extLst>
              <a:ext uri="{FF2B5EF4-FFF2-40B4-BE49-F238E27FC236}">
                <a16:creationId xmlns:a16="http://schemas.microsoft.com/office/drawing/2014/main" id="{B0BE0913-DB4C-4916-9947-1697026CE0B3}"/>
              </a:ext>
            </a:extLst>
          </p:cNvPr>
          <p:cNvSpPr txBox="1"/>
          <p:nvPr/>
        </p:nvSpPr>
        <p:spPr>
          <a:xfrm>
            <a:off x="239764" y="4644334"/>
            <a:ext cx="1292275" cy="63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1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000" b="0" i="0" u="none" strike="noStrike" kern="1200" cap="none" spc="0" normalizeH="0" baseline="0" noProof="0" dirty="0">
                <a:ln>
                  <a:noFill/>
                </a:ln>
                <a:solidFill>
                  <a:srgbClr val="8CA9AD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03.</a:t>
            </a:r>
          </a:p>
        </p:txBody>
      </p:sp>
      <p:sp>
        <p:nvSpPr>
          <p:cNvPr id="33" name="TextBox 5">
            <a:extLst>
              <a:ext uri="{FF2B5EF4-FFF2-40B4-BE49-F238E27FC236}">
                <a16:creationId xmlns:a16="http://schemas.microsoft.com/office/drawing/2014/main" id="{280CAB23-A6AD-465B-A138-12C209352194}"/>
              </a:ext>
            </a:extLst>
          </p:cNvPr>
          <p:cNvSpPr txBox="1"/>
          <p:nvPr/>
        </p:nvSpPr>
        <p:spPr>
          <a:xfrm>
            <a:off x="5413195" y="3107265"/>
            <a:ext cx="1292275" cy="63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1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000" b="0" i="0" u="none" strike="noStrike" kern="1200" cap="none" spc="0" normalizeH="0" baseline="0" noProof="0" dirty="0">
                <a:ln>
                  <a:noFill/>
                </a:ln>
                <a:solidFill>
                  <a:srgbClr val="8CA9AD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05.</a:t>
            </a:r>
          </a:p>
        </p:txBody>
      </p:sp>
      <p:sp>
        <p:nvSpPr>
          <p:cNvPr id="34" name="TextBox 6">
            <a:extLst>
              <a:ext uri="{FF2B5EF4-FFF2-40B4-BE49-F238E27FC236}">
                <a16:creationId xmlns:a16="http://schemas.microsoft.com/office/drawing/2014/main" id="{A4090016-0F69-433E-8CC4-F84AD53DBE15}"/>
              </a:ext>
            </a:extLst>
          </p:cNvPr>
          <p:cNvSpPr txBox="1"/>
          <p:nvPr/>
        </p:nvSpPr>
        <p:spPr>
          <a:xfrm>
            <a:off x="1093029" y="4792737"/>
            <a:ext cx="4484296" cy="32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000" b="0" i="0" u="sng" strike="noStrike" kern="1200" cap="none" spc="0" normalizeH="0" baseline="0" noProof="0" dirty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Interpretar los resultados</a:t>
            </a:r>
          </a:p>
        </p:txBody>
      </p:sp>
      <p:sp>
        <p:nvSpPr>
          <p:cNvPr id="35" name="TextBox 12">
            <a:extLst>
              <a:ext uri="{FF2B5EF4-FFF2-40B4-BE49-F238E27FC236}">
                <a16:creationId xmlns:a16="http://schemas.microsoft.com/office/drawing/2014/main" id="{6E8B458C-996C-4092-94D5-2AB68B70AD7F}"/>
              </a:ext>
            </a:extLst>
          </p:cNvPr>
          <p:cNvSpPr txBox="1"/>
          <p:nvPr/>
        </p:nvSpPr>
        <p:spPr>
          <a:xfrm>
            <a:off x="6241489" y="1573935"/>
            <a:ext cx="4484296" cy="322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000" b="0" i="0" u="sng" strike="noStrike" kern="1200" cap="none" spc="0" normalizeH="0" baseline="0" noProof="0" dirty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La función logística</a:t>
            </a:r>
            <a:endParaRPr kumimoji="0" lang="es-C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6" name="TextBox 6">
            <a:extLst>
              <a:ext uri="{FF2B5EF4-FFF2-40B4-BE49-F238E27FC236}">
                <a16:creationId xmlns:a16="http://schemas.microsoft.com/office/drawing/2014/main" id="{C46DB1DF-06BF-4441-8C15-62E87A62DE40}"/>
              </a:ext>
            </a:extLst>
          </p:cNvPr>
          <p:cNvSpPr txBox="1"/>
          <p:nvPr/>
        </p:nvSpPr>
        <p:spPr>
          <a:xfrm>
            <a:off x="996573" y="3116745"/>
            <a:ext cx="4484296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000" b="0" i="0" u="sng" strike="noStrike" kern="1200" cap="none" spc="0" normalizeH="0" baseline="0" noProof="0" dirty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Lineal vs. logística</a:t>
            </a:r>
            <a:endParaRPr kumimoji="0" lang="es-CO" sz="1400" b="0" i="0" u="none" strike="noStrike" kern="1200" cap="none" spc="0" normalizeH="0" baseline="0" noProof="0" dirty="0">
              <a:ln>
                <a:noFill/>
              </a:ln>
              <a:solidFill>
                <a:srgbClr val="737373"/>
              </a:solidFill>
              <a:effectLst/>
              <a:uLnTx/>
              <a:uFillTx/>
              <a:latin typeface="DM Sans Bold"/>
              <a:ea typeface="+mn-ea"/>
              <a:cs typeface="+mn-cs"/>
            </a:endParaRPr>
          </a:p>
        </p:txBody>
      </p:sp>
      <p:sp>
        <p:nvSpPr>
          <p:cNvPr id="37" name="TextBox 12">
            <a:extLst>
              <a:ext uri="{FF2B5EF4-FFF2-40B4-BE49-F238E27FC236}">
                <a16:creationId xmlns:a16="http://schemas.microsoft.com/office/drawing/2014/main" id="{7CE022EF-58EB-42DD-AA75-5219C0440962}"/>
              </a:ext>
            </a:extLst>
          </p:cNvPr>
          <p:cNvSpPr txBox="1"/>
          <p:nvPr/>
        </p:nvSpPr>
        <p:spPr>
          <a:xfrm>
            <a:off x="6383859" y="3121556"/>
            <a:ext cx="4960451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000" b="0" i="0" u="sng" strike="noStrike" kern="1200" cap="none" spc="0" normalizeH="0" baseline="0" noProof="0" dirty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DM Sans Bold"/>
                <a:ea typeface="Calibri"/>
                <a:cs typeface="Calibri"/>
              </a:rPr>
              <a:t>Ejemplo paso a paso</a:t>
            </a:r>
            <a:endParaRPr kumimoji="0" lang="es-C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8" name="TextBox 5">
            <a:extLst>
              <a:ext uri="{FF2B5EF4-FFF2-40B4-BE49-F238E27FC236}">
                <a16:creationId xmlns:a16="http://schemas.microsoft.com/office/drawing/2014/main" id="{F3A6312D-31F8-4D5C-8934-24A01ECA15C0}"/>
              </a:ext>
            </a:extLst>
          </p:cNvPr>
          <p:cNvSpPr txBox="1"/>
          <p:nvPr/>
        </p:nvSpPr>
        <p:spPr>
          <a:xfrm>
            <a:off x="5413728" y="1540473"/>
            <a:ext cx="1292275" cy="63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1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000" b="0" i="0" u="none" strike="noStrike" kern="1200" cap="none" spc="0" normalizeH="0" baseline="0" noProof="0" dirty="0">
                <a:ln>
                  <a:noFill/>
                </a:ln>
                <a:solidFill>
                  <a:srgbClr val="8CA9AD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04.</a:t>
            </a:r>
          </a:p>
        </p:txBody>
      </p:sp>
      <p:sp>
        <p:nvSpPr>
          <p:cNvPr id="39" name="TextBox 5">
            <a:extLst>
              <a:ext uri="{FF2B5EF4-FFF2-40B4-BE49-F238E27FC236}">
                <a16:creationId xmlns:a16="http://schemas.microsoft.com/office/drawing/2014/main" id="{80A445F9-F3F3-4363-A875-A1E852063013}"/>
              </a:ext>
            </a:extLst>
          </p:cNvPr>
          <p:cNvSpPr txBox="1"/>
          <p:nvPr/>
        </p:nvSpPr>
        <p:spPr>
          <a:xfrm>
            <a:off x="5485614" y="4638365"/>
            <a:ext cx="1292275" cy="63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1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000" b="0" i="0" u="none" strike="noStrike" kern="1200" cap="none" spc="0" normalizeH="0" baseline="0" noProof="0" dirty="0">
                <a:ln>
                  <a:noFill/>
                </a:ln>
                <a:solidFill>
                  <a:srgbClr val="8CA9AD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06.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0F79177-F72B-A56A-B375-1ABE30756E86}"/>
              </a:ext>
            </a:extLst>
          </p:cNvPr>
          <p:cNvSpPr txBox="1"/>
          <p:nvPr/>
        </p:nvSpPr>
        <p:spPr>
          <a:xfrm>
            <a:off x="6380104" y="4602103"/>
            <a:ext cx="392853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000" b="0" i="0" u="sng" strike="noStrike" kern="1200" cap="none" spc="0" normalizeH="0" baseline="0" noProof="0" dirty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Practica en numiqo.com</a:t>
            </a:r>
            <a:endParaRPr kumimoji="0" lang="es-C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3209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000" b="1" noProof="0" dirty="0">
                <a:solidFill>
                  <a:schemeClr val="bg1"/>
                </a:solidFill>
              </a:rPr>
              <a:t>¿Qué es una regresión?</a:t>
            </a:r>
            <a:endParaRPr lang="es-CO" b="1" noProof="0" dirty="0">
              <a:solidFill>
                <a:schemeClr val="bg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801A48F-12B2-05B2-C7F8-A4A4864EBAC0}"/>
              </a:ext>
            </a:extLst>
          </p:cNvPr>
          <p:cNvSpPr txBox="1"/>
          <p:nvPr/>
        </p:nvSpPr>
        <p:spPr>
          <a:xfrm>
            <a:off x="700000" y="1500000"/>
            <a:ext cx="10800000" cy="4350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28600" indent="-228600">
              <a:spcAft>
                <a:spcPts val="1400"/>
              </a:spcAft>
              <a:buFont typeface="Arial"/>
              <a:buChar char="•"/>
            </a:pPr>
            <a:r>
              <a:rPr lang="es-CO" sz="1900" b="0" i="0" noProof="0" dirty="0">
                <a:solidFill>
                  <a:srgbClr val="2B2B2B"/>
                </a:solidFill>
                <a:latin typeface="Calibri"/>
              </a:rPr>
              <a:t>Un análisis de regresión es un método para modelar la relación entre variables.</a:t>
            </a:r>
          </a:p>
          <a:p>
            <a:pPr marL="228600" indent="-228600">
              <a:spcAft>
                <a:spcPts val="1400"/>
              </a:spcAft>
              <a:buFont typeface="Arial"/>
              <a:buChar char="•"/>
            </a:pPr>
            <a:r>
              <a:rPr lang="es-CO" sz="1900" b="0" i="0" noProof="0" dirty="0">
                <a:solidFill>
                  <a:srgbClr val="2B2B2B"/>
                </a:solidFill>
                <a:latin typeface="Calibri"/>
              </a:rPr>
              <a:t>Nos permite predecir o explicar una variable a partir de una u otras variables.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s-CO" sz="1900" b="1" i="0" noProof="0" dirty="0">
                <a:solidFill>
                  <a:srgbClr val="1E2A4A"/>
                </a:solidFill>
                <a:latin typeface="Calibri"/>
              </a:rPr>
              <a:t>Variable dependiente (o criterio): la que queremos predecir.</a:t>
            </a:r>
          </a:p>
          <a:p>
            <a:pPr marL="228600" lvl="1" indent="0">
              <a:spcAft>
                <a:spcPts val="1400"/>
              </a:spcAft>
              <a:buNone/>
            </a:pPr>
            <a:r>
              <a:rPr lang="es-CO" sz="1700" b="0" i="0" noProof="0" dirty="0">
                <a:solidFill>
                  <a:srgbClr val="595959"/>
                </a:solidFill>
                <a:latin typeface="Calibri"/>
              </a:rPr>
              <a:t>Es el resultado que nos interesa explicar, por ejemplo si alguien aprueba o si está enfermo.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s-CO" sz="1900" b="1" i="0" noProof="0" dirty="0">
                <a:solidFill>
                  <a:srgbClr val="1E2A4A"/>
                </a:solidFill>
                <a:latin typeface="Calibri"/>
              </a:rPr>
              <a:t>Variables independientes (o predictores): las que usamos para predecir.</a:t>
            </a:r>
          </a:p>
          <a:p>
            <a:pPr marL="228600" lvl="1" indent="0">
              <a:spcAft>
                <a:spcPts val="0"/>
              </a:spcAft>
              <a:buNone/>
            </a:pPr>
            <a:r>
              <a:rPr lang="es-CO" sz="1700" b="0" i="0" noProof="0" dirty="0">
                <a:solidFill>
                  <a:srgbClr val="595959"/>
                </a:solidFill>
                <a:latin typeface="Calibri"/>
              </a:rPr>
              <a:t>Son la información de entrada, por ejemplo la edad, el sexo o el hábito de fumar.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CC54711-9ADC-1FAD-0C28-37C862039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952" y="4023743"/>
            <a:ext cx="5964854" cy="215109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C03EB11-59FE-A936-6FDD-86BF4D3D8B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9011" y="3870254"/>
            <a:ext cx="4267962" cy="237271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000" b="1" noProof="0" dirty="0">
                <a:solidFill>
                  <a:schemeClr val="bg1"/>
                </a:solidFill>
              </a:rPr>
              <a:t>Regresión lineal vs. regresión logística</a:t>
            </a:r>
            <a:endParaRPr lang="es-CO" b="1" noProof="0" dirty="0">
              <a:solidFill>
                <a:schemeClr val="bg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801A48F-12B2-05B2-C7F8-A4A4864EBAC0}"/>
              </a:ext>
            </a:extLst>
          </p:cNvPr>
          <p:cNvSpPr txBox="1"/>
          <p:nvPr/>
        </p:nvSpPr>
        <p:spPr>
          <a:xfrm>
            <a:off x="700000" y="989015"/>
            <a:ext cx="7671002" cy="20056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28600" indent="-228600">
              <a:spcAft>
                <a:spcPts val="1400"/>
              </a:spcAft>
              <a:buFont typeface="Arial"/>
              <a:buChar char="•"/>
            </a:pPr>
            <a:r>
              <a:rPr lang="es-CO" sz="1900" b="1" i="0" noProof="0" dirty="0">
                <a:solidFill>
                  <a:srgbClr val="1E2A4A"/>
                </a:solidFill>
                <a:latin typeface="Calibri"/>
              </a:rPr>
              <a:t>La diferencia clave está en el tipo de variable dependiente.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s-CO" sz="1900" b="0" i="0" noProof="0" dirty="0">
                <a:solidFill>
                  <a:srgbClr val="2B2B2B"/>
                </a:solidFill>
                <a:latin typeface="Calibri"/>
              </a:rPr>
              <a:t>Regresión lineal → variable dependiente métrica (un número continuo).</a:t>
            </a:r>
          </a:p>
          <a:p>
            <a:pPr marL="228600" lvl="1" indent="0">
              <a:spcAft>
                <a:spcPts val="1400"/>
              </a:spcAft>
              <a:buNone/>
            </a:pPr>
            <a:r>
              <a:rPr lang="es-CO" sz="1700" b="0" i="0" noProof="0" dirty="0">
                <a:solidFill>
                  <a:srgbClr val="595959"/>
                </a:solidFill>
                <a:latin typeface="Calibri"/>
              </a:rPr>
              <a:t>Ejemplos: el salario, el consumo de electricidad, una nota de un examen.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s-CO" sz="1900" b="0" i="0" noProof="0" dirty="0">
                <a:solidFill>
                  <a:srgbClr val="2B2B2B"/>
                </a:solidFill>
                <a:latin typeface="Calibri"/>
              </a:rPr>
              <a:t>Regresión logística → variable dependiente dicotómica (solo dos valores).</a:t>
            </a:r>
          </a:p>
          <a:p>
            <a:pPr marL="228600" lvl="1" indent="0">
              <a:spcAft>
                <a:spcPts val="0"/>
              </a:spcAft>
              <a:buNone/>
            </a:pPr>
            <a:r>
              <a:rPr lang="es-CO" sz="1700" b="0" i="0" noProof="0" dirty="0">
                <a:solidFill>
                  <a:srgbClr val="595959"/>
                </a:solidFill>
                <a:latin typeface="Calibri"/>
              </a:rPr>
              <a:t>Ejemplos: comprar o no comprar, estar enfermo o no estarlo (0 / 1).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4D30875-B33F-CD06-AA4B-9ECE3B5549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59" t="14572" r="6464" b="5899"/>
          <a:stretch>
            <a:fillRect/>
          </a:stretch>
        </p:blipFill>
        <p:spPr>
          <a:xfrm>
            <a:off x="1043324" y="3155587"/>
            <a:ext cx="6203578" cy="308431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400" b="1" noProof="0" dirty="0">
                <a:solidFill>
                  <a:schemeClr val="bg1"/>
                </a:solidFill>
              </a:rPr>
              <a:t>La variable dicotómica: el ejemplo de la enfermedad</a:t>
            </a:r>
            <a:endParaRPr lang="es-CO" sz="3600" b="1" noProof="0" dirty="0">
              <a:solidFill>
                <a:schemeClr val="bg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801A48F-12B2-05B2-C7F8-A4A4864EBAC0}"/>
              </a:ext>
            </a:extLst>
          </p:cNvPr>
          <p:cNvSpPr txBox="1"/>
          <p:nvPr/>
        </p:nvSpPr>
        <p:spPr>
          <a:xfrm>
            <a:off x="45572" y="980046"/>
            <a:ext cx="12038851" cy="213904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28600" indent="-228600">
              <a:spcAft>
                <a:spcPts val="1400"/>
              </a:spcAft>
              <a:buFont typeface="Arial"/>
              <a:buChar char="•"/>
            </a:pPr>
            <a:r>
              <a:rPr lang="es-CO" sz="1900" b="1" i="0" noProof="0" dirty="0">
                <a:solidFill>
                  <a:srgbClr val="1E2A4A"/>
                </a:solidFill>
                <a:latin typeface="Calibri"/>
              </a:rPr>
              <a:t>Una variable dicotómica solo tiene dos valores posibles: 0 y 1.</a:t>
            </a:r>
          </a:p>
          <a:p>
            <a:pPr marL="228600" indent="-228600">
              <a:spcAft>
                <a:spcPts val="1400"/>
              </a:spcAft>
              <a:buFont typeface="Arial"/>
              <a:buChar char="•"/>
            </a:pPr>
            <a:r>
              <a:rPr lang="es-CO" sz="1900" b="0" i="0" noProof="0" dirty="0">
                <a:solidFill>
                  <a:srgbClr val="2B2B2B"/>
                </a:solidFill>
                <a:latin typeface="Calibri"/>
              </a:rPr>
              <a:t>0 = no enfermo   ·   1 = enfermo (la característica está presente).</a:t>
            </a:r>
          </a:p>
          <a:p>
            <a:pPr marL="228600" indent="-228600">
              <a:spcAft>
                <a:spcPts val="1400"/>
              </a:spcAft>
              <a:buFont typeface="Arial"/>
              <a:buChar char="•"/>
            </a:pPr>
            <a:r>
              <a:rPr lang="es-CO" sz="1900" b="0" i="0" noProof="0" dirty="0">
                <a:solidFill>
                  <a:srgbClr val="2B2B2B"/>
                </a:solidFill>
                <a:latin typeface="Calibri"/>
              </a:rPr>
              <a:t>La regresión logística estima la probabilidad de que ocurra el valor 1.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s-CO" sz="1900" b="0" i="0" noProof="0" dirty="0">
                <a:solidFill>
                  <a:srgbClr val="2B2B2B"/>
                </a:solidFill>
                <a:latin typeface="Calibri"/>
              </a:rPr>
              <a:t>Pregunta del ejemplo: ¿qué influencia tienen la edad, el sexo y el hábito de fumar en que una persona esté enferma?</a:t>
            </a:r>
          </a:p>
          <a:p>
            <a:pPr marL="228600" lvl="1" indent="0">
              <a:spcAft>
                <a:spcPts val="0"/>
              </a:spcAft>
              <a:buNone/>
            </a:pPr>
            <a:r>
              <a:rPr lang="es-CO" sz="1700" b="0" i="0" noProof="0" dirty="0">
                <a:solidFill>
                  <a:srgbClr val="595959"/>
                </a:solidFill>
                <a:latin typeface="Calibri"/>
              </a:rPr>
              <a:t>Variables independientes: edad, sexo, hábito de fumar. Variable dependiente: enfermedad (0/1).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311BE5E-8D20-BDB3-62C9-AA1CD9FD8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5693" y="3260498"/>
            <a:ext cx="6095999" cy="312677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000" b="1" noProof="0" dirty="0">
                <a:solidFill>
                  <a:schemeClr val="bg1"/>
                </a:solidFill>
              </a:rPr>
              <a:t>¿Por qué no basta la regresión lineal?</a:t>
            </a:r>
            <a:endParaRPr lang="es-CO" b="1" noProof="0" dirty="0">
              <a:solidFill>
                <a:schemeClr val="bg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801A48F-12B2-05B2-C7F8-A4A4864EBAC0}"/>
              </a:ext>
            </a:extLst>
          </p:cNvPr>
          <p:cNvSpPr txBox="1"/>
          <p:nvPr/>
        </p:nvSpPr>
        <p:spPr>
          <a:xfrm>
            <a:off x="75416" y="1505396"/>
            <a:ext cx="5495826" cy="38472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28600" indent="-228600">
              <a:spcAft>
                <a:spcPts val="1400"/>
              </a:spcAft>
              <a:buFont typeface="Arial"/>
              <a:buChar char="•"/>
            </a:pPr>
            <a:r>
              <a:rPr lang="es-CO" sz="1900" b="0" i="0" noProof="0" dirty="0">
                <a:solidFill>
                  <a:srgbClr val="2B2B2B"/>
                </a:solidFill>
                <a:latin typeface="Calibri"/>
              </a:rPr>
              <a:t>La ecuación lineal Y = b0 + b1·X puede dar cualquier valor, entre menos infinito y más infinito.</a:t>
            </a:r>
          </a:p>
          <a:p>
            <a:pPr marL="228600" indent="-228600">
              <a:spcAft>
                <a:spcPts val="1400"/>
              </a:spcAft>
              <a:buFont typeface="Arial"/>
              <a:buChar char="•"/>
            </a:pPr>
            <a:r>
              <a:rPr lang="es-CO" sz="1900" b="0" i="0" noProof="0" dirty="0">
                <a:solidFill>
                  <a:srgbClr val="2B2B2B"/>
                </a:solidFill>
                <a:latin typeface="Calibri"/>
              </a:rPr>
              <a:t>Pero nuestra variable dependiente solo puede ser 0 o 1: no tiene sentido predecir, por ejemplo, -3 o 1.8 “enfermos”.</a:t>
            </a:r>
          </a:p>
          <a:p>
            <a:pPr marL="228600" indent="-228600">
              <a:spcAft>
                <a:spcPts val="1400"/>
              </a:spcAft>
              <a:buFont typeface="Arial"/>
              <a:buChar char="•"/>
            </a:pPr>
            <a:r>
              <a:rPr lang="es-CO" sz="1900" b="1" i="0" noProof="0" dirty="0">
                <a:solidFill>
                  <a:srgbClr val="1E2A4A"/>
                </a:solidFill>
                <a:latin typeface="Calibri"/>
              </a:rPr>
              <a:t>El objetivo de la regresión logística es estimar una probabilidad, y una probabilidad siempre está entre 0 y 1.</a:t>
            </a:r>
          </a:p>
          <a:p>
            <a:pPr marL="228600" indent="-228600">
              <a:spcAft>
                <a:spcPts val="0"/>
              </a:spcAft>
              <a:buFont typeface="Arial"/>
              <a:buChar char="•"/>
            </a:pPr>
            <a:r>
              <a:rPr lang="es-CO" sz="1900" b="0" i="0" noProof="0" dirty="0">
                <a:solidFill>
                  <a:srgbClr val="2B2B2B"/>
                </a:solidFill>
                <a:latin typeface="Calibri"/>
              </a:rPr>
              <a:t>Necesitamos entonces una función que, sin importar el valor de X, siempre entregue un resultado entre 0 y 1.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669D989-F6FE-70F8-AE19-DBD7A4A82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9479" y="1569562"/>
            <a:ext cx="6297105" cy="347410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000" b="1" noProof="0" dirty="0">
                <a:solidFill>
                  <a:schemeClr val="bg1"/>
                </a:solidFill>
              </a:rPr>
              <a:t>Conjunto de datos</a:t>
            </a:r>
            <a:endParaRPr lang="es-CO" b="1" noProof="0" dirty="0">
              <a:solidFill>
                <a:schemeClr val="bg1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7134039-B938-CAB1-9B04-02DEDCD7B7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624" y="1152250"/>
            <a:ext cx="8793472" cy="5213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51BDB-1A7D-1259-66A3-29F37EBEA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104B579-83F2-B90C-7FFF-C9B8ABE75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000" b="1" noProof="0" dirty="0">
                <a:solidFill>
                  <a:schemeClr val="bg1"/>
                </a:solidFill>
              </a:rPr>
              <a:t>Influencia de las variables independientes</a:t>
            </a:r>
            <a:endParaRPr lang="es-CO" b="1" noProof="0" dirty="0">
              <a:solidFill>
                <a:schemeClr val="bg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6F9799E-0E24-5042-E5DF-0DCCD4A71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091" y="1441185"/>
            <a:ext cx="9430871" cy="4379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8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025F0-F2F1-BF80-303F-0CFCC6D75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954DAFE3-7571-9C23-5326-F6D2F0DF4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000" b="1" noProof="0" dirty="0">
                <a:solidFill>
                  <a:schemeClr val="bg1"/>
                </a:solidFill>
              </a:rPr>
              <a:t>Pregunta</a:t>
            </a:r>
            <a:endParaRPr lang="es-CO" b="1" noProof="0" dirty="0">
              <a:solidFill>
                <a:schemeClr val="bg1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8DB8AAE-0740-03CC-73E7-1AE9F4139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776" y="1148622"/>
            <a:ext cx="11304494" cy="4560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141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83A45-568A-06EA-B0A5-F87666C20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43AE37E-4616-0D07-84DE-65C1B4368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000" b="1" noProof="0" dirty="0">
                <a:solidFill>
                  <a:schemeClr val="bg1"/>
                </a:solidFill>
              </a:rPr>
              <a:t>En la regresión lineal tenemos</a:t>
            </a:r>
            <a:endParaRPr lang="es-CO" b="1" noProof="0" dirty="0">
              <a:solidFill>
                <a:schemeClr val="bg1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37FFC76-1500-C9DE-BEC9-00E2F4E6F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000" y="1107029"/>
            <a:ext cx="10440000" cy="4946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066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7C096-989B-7C5D-4D15-0A6788BDD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49579FED-8665-CB35-2D78-71F4F7439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000" b="1" noProof="0" dirty="0">
                <a:solidFill>
                  <a:schemeClr val="bg1"/>
                </a:solidFill>
              </a:rPr>
              <a:t>En la regresión lineal tenemos</a:t>
            </a:r>
            <a:endParaRPr lang="es-CO" b="1" noProof="0" dirty="0">
              <a:solidFill>
                <a:schemeClr val="bg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6922764-CEC3-71F8-B0ED-E251D5432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000" y="1190445"/>
            <a:ext cx="10440000" cy="5123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676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6671F-CDDB-F6F6-6956-EB57BE90B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46D477B9-BA36-04EF-9435-263CF29C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000" b="1" noProof="0" dirty="0">
                <a:solidFill>
                  <a:schemeClr val="bg1"/>
                </a:solidFill>
              </a:rPr>
              <a:t>En la regresión logística tenemos</a:t>
            </a:r>
            <a:endParaRPr lang="es-CO" b="1" noProof="0" dirty="0">
              <a:solidFill>
                <a:schemeClr val="bg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3AF254D-0F84-F471-404F-D307002B7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000" y="1107029"/>
            <a:ext cx="10440000" cy="5417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4797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15278-4C66-359C-1C57-A1CD4E331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C309ADF5-7B2B-0BEB-C107-C0CE41083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000" b="1" noProof="0" dirty="0">
                <a:solidFill>
                  <a:schemeClr val="bg1"/>
                </a:solidFill>
              </a:rPr>
              <a:t>En la regresión logística tenemos</a:t>
            </a:r>
            <a:endParaRPr lang="es-CO" b="1" noProof="0" dirty="0">
              <a:solidFill>
                <a:schemeClr val="bg1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EC31210-1FB0-321D-0E09-94DAE9DE9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000" y="1174566"/>
            <a:ext cx="10440000" cy="464393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E8319CA-6CB2-F261-6399-8C05C343A3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727" y="5530127"/>
            <a:ext cx="5753960" cy="71183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23F2DD8-B2CB-AD20-930A-9FB8D2B1BB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4102" y="3429000"/>
            <a:ext cx="209387" cy="1419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161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5F49CCC-518F-D195-5410-B6CCEAB02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25" y="1362638"/>
            <a:ext cx="5760000" cy="376538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E5BCD40A-3C74-71BE-03F2-F612DB961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140055"/>
            <a:ext cx="10515600" cy="7115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000" b="1" noProof="0" dirty="0">
                <a:solidFill>
                  <a:schemeClr val="bg1"/>
                </a:solidFill>
              </a:rPr>
              <a:t>En la regresión logística tenemos</a:t>
            </a:r>
            <a:endParaRPr lang="es-CO" b="1" noProof="0" dirty="0">
              <a:solidFill>
                <a:schemeClr val="bg1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3F9BF95-5CF7-6F24-B065-22313C6CA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2247" y="1362638"/>
            <a:ext cx="5760000" cy="428129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3C628DE-20BE-A6C1-A2A2-D94CD3FAFB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593"/>
          <a:stretch>
            <a:fillRect/>
          </a:stretch>
        </p:blipFill>
        <p:spPr>
          <a:xfrm>
            <a:off x="10543745" y="2986751"/>
            <a:ext cx="1378502" cy="884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2720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59E97-A4CB-29CD-D3AA-D694506F5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8550060E-C0BB-5B91-CA9D-EDC7AB456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140055"/>
            <a:ext cx="10515600" cy="7115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000" b="1" dirty="0">
                <a:solidFill>
                  <a:schemeClr val="bg1"/>
                </a:solidFill>
              </a:rPr>
              <a:t>Ecuación de la función logística</a:t>
            </a:r>
            <a:endParaRPr lang="es-CO" b="1" noProof="0" dirty="0">
              <a:solidFill>
                <a:schemeClr val="bg1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52F2E76-E9B7-2595-BB52-DF929D9F0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9" y="1173169"/>
            <a:ext cx="5127812" cy="193525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11374B8-C90E-0D75-AD69-2B6F83706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4681" y="1173169"/>
            <a:ext cx="6589059" cy="269135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C02E5098-D8BC-B888-A3BB-A139AB320F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5021" y="3950672"/>
            <a:ext cx="6347012" cy="245001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03408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0E6BF-A1AF-8A3D-FF66-EE5DD5870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AE6CE440-6AD1-42C7-8CA4-990EBAB88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140055"/>
            <a:ext cx="10515600" cy="7115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000" b="1" noProof="0" dirty="0">
                <a:solidFill>
                  <a:schemeClr val="bg1"/>
                </a:solidFill>
              </a:rPr>
              <a:t>En la regresión logística tenemos</a:t>
            </a:r>
            <a:endParaRPr lang="es-CO" b="1" noProof="0" dirty="0">
              <a:solidFill>
                <a:schemeClr val="bg1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92F3BA6-8565-871B-B690-B1A99E937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329" y="1056357"/>
            <a:ext cx="8803341" cy="222238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8D21545-384B-6A48-7A0A-17D729085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12" y="3429000"/>
            <a:ext cx="5477436" cy="260326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D869C28-B75B-D72C-6477-2B46F8C70E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5691" y="4046005"/>
            <a:ext cx="6237697" cy="198626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76481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98F40-6562-45B2-CD7C-462B81F93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E55125EA-84B7-CB4E-B3EF-1689E6A24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140055"/>
            <a:ext cx="10515600" cy="7115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000" b="1" noProof="0" dirty="0">
                <a:solidFill>
                  <a:schemeClr val="bg1"/>
                </a:solidFill>
              </a:rPr>
              <a:t>En la regresión logística tenemos</a:t>
            </a:r>
            <a:endParaRPr lang="es-CO" b="1" noProof="0" dirty="0">
              <a:solidFill>
                <a:schemeClr val="bg1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ED13E9C-9784-51A3-B85F-79B7A7690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000" y="1058520"/>
            <a:ext cx="10440000" cy="495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6583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78776-EDAF-E82D-3A61-0D423F732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B358A142-8E24-C5FE-93BF-A4EEE70D3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000" b="1" noProof="0" dirty="0">
                <a:solidFill>
                  <a:schemeClr val="bg1"/>
                </a:solidFill>
              </a:rPr>
              <a:t>La función logística: la curva en forma de S</a:t>
            </a:r>
            <a:endParaRPr lang="es-CO" b="1" noProof="0" dirty="0">
              <a:solidFill>
                <a:schemeClr val="bg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F166F15-2CAD-46E9-3697-372FC410C1D2}"/>
              </a:ext>
            </a:extLst>
          </p:cNvPr>
          <p:cNvSpPr txBox="1"/>
          <p:nvPr/>
        </p:nvSpPr>
        <p:spPr>
          <a:xfrm>
            <a:off x="27646" y="980046"/>
            <a:ext cx="11886447" cy="241604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28600" indent="-228600">
              <a:spcAft>
                <a:spcPts val="1200"/>
              </a:spcAft>
              <a:buFont typeface="Arial"/>
              <a:buChar char="•"/>
            </a:pPr>
            <a:r>
              <a:rPr lang="es-CO" sz="1800" b="0" i="0" noProof="0" dirty="0">
                <a:solidFill>
                  <a:srgbClr val="2B2B2B"/>
                </a:solidFill>
                <a:latin typeface="Calibri"/>
              </a:rPr>
              <a:t>La función logística resuelve el problema: sin importar el valor de X, el resultado siempre está entre 0 y 1.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s-CO" sz="2200" b="1" i="0" noProof="0" dirty="0">
                <a:solidFill>
                  <a:srgbClr val="1E2A4A"/>
                </a:solidFill>
                <a:latin typeface="Calibri"/>
              </a:rPr>
              <a:t>P(Y=1) = 1 / (1 + e⁻ᶻ)</a:t>
            </a:r>
          </a:p>
          <a:p>
            <a:pPr marL="228600" lvl="1" indent="0">
              <a:spcAft>
                <a:spcPts val="600"/>
              </a:spcAft>
              <a:buNone/>
            </a:pPr>
            <a:r>
              <a:rPr lang="es-CO" sz="1700" b="0" i="0" noProof="0" dirty="0">
                <a:solidFill>
                  <a:srgbClr val="595959"/>
                </a:solidFill>
                <a:latin typeface="Calibri"/>
              </a:rPr>
              <a:t>donde z es la misma combinación lineal que ya conocemos:</a:t>
            </a:r>
          </a:p>
          <a:p>
            <a:pPr marL="0" indent="0">
              <a:spcAft>
                <a:spcPts val="1400"/>
              </a:spcAft>
              <a:buNone/>
            </a:pPr>
            <a:r>
              <a:rPr lang="es-CO" sz="2000" b="1" i="0" noProof="0" dirty="0">
                <a:solidFill>
                  <a:srgbClr val="1E2A4A"/>
                </a:solidFill>
                <a:latin typeface="Calibri"/>
              </a:rPr>
              <a:t>z = b0 + b1·X1 + b2·X2 + ... + </a:t>
            </a:r>
            <a:r>
              <a:rPr lang="es-CO" sz="2000" b="1" i="0" noProof="0" dirty="0" err="1">
                <a:solidFill>
                  <a:srgbClr val="1E2A4A"/>
                </a:solidFill>
                <a:latin typeface="Calibri"/>
              </a:rPr>
              <a:t>bk·Xk</a:t>
            </a:r>
            <a:endParaRPr lang="es-CO" sz="2000" b="1" i="0" noProof="0" dirty="0">
              <a:solidFill>
                <a:srgbClr val="1E2A4A"/>
              </a:solidFill>
              <a:latin typeface="Calibri"/>
            </a:endParaRP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s-CO" sz="1700" b="0" i="0" noProof="0" dirty="0">
                <a:solidFill>
                  <a:srgbClr val="2B2B2B"/>
                </a:solidFill>
                <a:latin typeface="Calibri"/>
              </a:rPr>
              <a:t>Cuando z es muy negativo, P se acerca a 0; cuando z es muy positivo, P se acerca a 1; si z = 0, P = 0.5.</a:t>
            </a:r>
          </a:p>
          <a:p>
            <a:pPr marL="228600" indent="-228600">
              <a:spcAft>
                <a:spcPts val="0"/>
              </a:spcAft>
              <a:buFont typeface="Arial"/>
              <a:buChar char="•"/>
            </a:pPr>
            <a:r>
              <a:rPr lang="es-CO" sz="1700" b="0" i="0" noProof="0" dirty="0">
                <a:solidFill>
                  <a:srgbClr val="2B2B2B"/>
                </a:solidFill>
                <a:latin typeface="Calibri"/>
              </a:rPr>
              <a:t>Por eso su gráfica tiene forma de “S” (curva sigmoide).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E11C52F-B38F-0339-5497-B56E7235D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0206" y="3429000"/>
            <a:ext cx="5311587" cy="329452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225552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000" b="1" noProof="0" dirty="0">
                <a:solidFill>
                  <a:schemeClr val="bg1"/>
                </a:solidFill>
              </a:rPr>
              <a:t>¿Cómo se calculan los coeficientes?</a:t>
            </a:r>
            <a:endParaRPr lang="es-CO" b="1" noProof="0" dirty="0">
              <a:solidFill>
                <a:schemeClr val="bg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801A48F-12B2-05B2-C7F8-A4A4864EBAC0}"/>
              </a:ext>
            </a:extLst>
          </p:cNvPr>
          <p:cNvSpPr txBox="1"/>
          <p:nvPr/>
        </p:nvSpPr>
        <p:spPr>
          <a:xfrm>
            <a:off x="386234" y="1123481"/>
            <a:ext cx="4777435" cy="41395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28600" indent="-228600">
              <a:spcAft>
                <a:spcPts val="1400"/>
              </a:spcAft>
              <a:buFont typeface="Arial"/>
              <a:buChar char="•"/>
            </a:pPr>
            <a:r>
              <a:rPr lang="es-CO" sz="1900" b="0" i="0" noProof="0" dirty="0">
                <a:solidFill>
                  <a:srgbClr val="2B2B2B"/>
                </a:solidFill>
                <a:latin typeface="Calibri"/>
              </a:rPr>
              <a:t>En regresión lineal usábamos mínimos cuadrados. En regresión logística se usa otro método: máxima verosimilitud.</a:t>
            </a:r>
          </a:p>
          <a:p>
            <a:pPr marL="228600" indent="-228600">
              <a:spcAft>
                <a:spcPts val="1400"/>
              </a:spcAft>
              <a:buFont typeface="Arial"/>
              <a:buChar char="•"/>
            </a:pPr>
            <a:r>
              <a:rPr lang="es-CO" sz="1900" b="0" i="0" noProof="0" dirty="0">
                <a:solidFill>
                  <a:srgbClr val="2B2B2B"/>
                </a:solidFill>
                <a:latin typeface="Calibri"/>
              </a:rPr>
              <a:t>La idea: buscar los valores de b0, b1, b2... que hacen más probable observar los datos que realmente tenemos.</a:t>
            </a:r>
          </a:p>
          <a:p>
            <a:pPr marL="228600" indent="-228600">
              <a:spcAft>
                <a:spcPts val="1400"/>
              </a:spcAft>
              <a:buFont typeface="Arial"/>
              <a:buChar char="•"/>
            </a:pPr>
            <a:r>
              <a:rPr lang="es-CO" sz="1900" b="0" i="0" noProof="0" dirty="0">
                <a:solidFill>
                  <a:srgbClr val="2B2B2B"/>
                </a:solidFill>
                <a:latin typeface="Calibri"/>
              </a:rPr>
              <a:t>No se resuelve “a mano”: se usan métodos numéricos iterativos, que un software estadístico calcula por nosotros.</a:t>
            </a:r>
          </a:p>
          <a:p>
            <a:pPr marL="228600" indent="-228600">
              <a:spcAft>
                <a:spcPts val="0"/>
              </a:spcAft>
              <a:buFont typeface="Arial"/>
              <a:buChar char="•"/>
            </a:pPr>
            <a:r>
              <a:rPr lang="es-CO" sz="1900" b="0" i="0" noProof="0" dirty="0">
                <a:solidFill>
                  <a:srgbClr val="2B2B2B"/>
                </a:solidFill>
                <a:latin typeface="Calibri"/>
              </a:rPr>
              <a:t>En nuestro ejemplo: el software calcula los coeficientes de edad, sexo, hábito de fumar y la constante a.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4E730EB-7A8F-242D-5471-BCF68DFE9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5987" y="1123481"/>
            <a:ext cx="6455962" cy="400433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000" b="1" noProof="0" dirty="0">
                <a:solidFill>
                  <a:schemeClr val="bg1"/>
                </a:solidFill>
              </a:rPr>
              <a:t>Interpretar los resultados: B, valor p y razón de momios</a:t>
            </a:r>
            <a:endParaRPr lang="es-CO" b="1" noProof="0" dirty="0">
              <a:solidFill>
                <a:schemeClr val="bg1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277452"/>
              </p:ext>
            </p:extLst>
          </p:nvPr>
        </p:nvGraphicFramePr>
        <p:xfrm>
          <a:off x="700000" y="1550000"/>
          <a:ext cx="10800000" cy="30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25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s-CO" noProof="0" dirty="0"/>
                        <a:t>Concepto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s-CO" noProof="0" dirty="0"/>
                        <a:t>¿Qué significa?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s-CO" noProof="0" dirty="0"/>
                        <a:t>Cómo se lee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rPr lang="es-CO" noProof="0" dirty="0"/>
                        <a:t>Coeficiente (B)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rPr lang="es-CO" noProof="0" dirty="0"/>
                        <a:t>Cambia el log-</a:t>
                      </a:r>
                      <a:r>
                        <a:rPr lang="es-CO" noProof="0" dirty="0" err="1"/>
                        <a:t>odds</a:t>
                      </a:r>
                      <a:r>
                        <a:rPr lang="es-CO" noProof="0" dirty="0"/>
                        <a:t> por cada unidad que sube X.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rPr lang="es-CO" noProof="0" dirty="0"/>
                        <a:t>Signo negativo → reduce la probabilidad; positivo → la aumenta.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rPr lang="es-CO" noProof="0" dirty="0"/>
                        <a:t>Valor 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rPr lang="es-CO" noProof="0" dirty="0"/>
                        <a:t>¿Es significativa la influencia de esa variable?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rPr lang="es-CO" noProof="0" dirty="0"/>
                        <a:t>Si p &lt; 0.05, el efecto es estadísticamente significativo.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rPr lang="es-CO" noProof="0" dirty="0"/>
                        <a:t>Razón de momios</a:t>
                      </a:r>
                    </a:p>
                    <a:p>
                      <a:pPr>
                        <a:defRPr sz="14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rPr lang="es-CO" noProof="0" dirty="0"/>
                        <a:t>(</a:t>
                      </a:r>
                      <a:r>
                        <a:rPr lang="es-CO" noProof="0" dirty="0" err="1"/>
                        <a:t>odds</a:t>
                      </a:r>
                      <a:r>
                        <a:rPr lang="es-CO" noProof="0" dirty="0"/>
                        <a:t> ratio) = </a:t>
                      </a:r>
                      <a:r>
                        <a:rPr lang="es-CO" noProof="0" dirty="0" err="1"/>
                        <a:t>e^B</a:t>
                      </a:r>
                      <a:endParaRPr lang="es-CO" noProof="0" dirty="0"/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rPr lang="es-CO" noProof="0" dirty="0"/>
                        <a:t>Cuánto se multiplican los momios del evento.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rPr lang="es-CO" noProof="0" dirty="0"/>
                        <a:t>Ej.: </a:t>
                      </a:r>
                      <a:r>
                        <a:rPr lang="es-CO" noProof="0" dirty="0" err="1"/>
                        <a:t>odds</a:t>
                      </a:r>
                      <a:r>
                        <a:rPr lang="es-CO" noProof="0" dirty="0"/>
                        <a:t> ratio 1.04 → la probabilidad de enfermar se multiplica por 1.04 por cada año más.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000" b="1" noProof="0" dirty="0">
                <a:solidFill>
                  <a:schemeClr val="bg1"/>
                </a:solidFill>
              </a:rPr>
              <a:t>Ejemplo numérico paso a paso</a:t>
            </a:r>
            <a:endParaRPr lang="es-CO" b="1" noProof="0" dirty="0">
              <a:solidFill>
                <a:schemeClr val="bg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801A48F-12B2-05B2-C7F8-A4A4864EBAC0}"/>
              </a:ext>
            </a:extLst>
          </p:cNvPr>
          <p:cNvSpPr txBox="1"/>
          <p:nvPr/>
        </p:nvSpPr>
        <p:spPr>
          <a:xfrm>
            <a:off x="700000" y="1500000"/>
            <a:ext cx="10800000" cy="4350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28600" indent="-228600">
              <a:spcAft>
                <a:spcPts val="1400"/>
              </a:spcAft>
              <a:buFont typeface="Arial"/>
              <a:buChar char="•"/>
            </a:pPr>
            <a:r>
              <a:rPr lang="es-CO" sz="1900" b="1" i="0" noProof="0" dirty="0">
                <a:solidFill>
                  <a:srgbClr val="1E2A4A"/>
                </a:solidFill>
                <a:latin typeface="Calibri"/>
              </a:rPr>
              <a:t>Pregunta: ¿qué probabilidad tiene de enfermar una mujer de 55 años, fumadora?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lang="es-CO" sz="1800" b="0" i="0" noProof="0" dirty="0">
                <a:solidFill>
                  <a:srgbClr val="2B2B2B"/>
                </a:solidFill>
                <a:latin typeface="Calibri"/>
              </a:rPr>
              <a:t>1. Reemplazamos los valores en la ecuación: edad = 55, sexo = 0 (mujer), fumadora = 1.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lang="es-CO" sz="1800" b="0" i="0" noProof="0" dirty="0">
                <a:solidFill>
                  <a:srgbClr val="2B2B2B"/>
                </a:solidFill>
                <a:latin typeface="Calibri"/>
              </a:rPr>
              <a:t>2. Calculamos z = b0 + b1·(edad) + b2·(sexo) + b3·(fumadora) con los coeficientes del modelo.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lang="es-CO" sz="1800" b="0" i="0" noProof="0" dirty="0">
                <a:solidFill>
                  <a:srgbClr val="2B2B2B"/>
                </a:solidFill>
                <a:latin typeface="Calibri"/>
              </a:rPr>
              <a:t>3. Aplicamos la función logística: P(Y=1) = 1 / (1 + e⁻ᶻ).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s-CO" sz="2000" b="1" i="0" noProof="0" dirty="0">
                <a:solidFill>
                  <a:srgbClr val="1E2A4A"/>
                </a:solidFill>
                <a:latin typeface="Calibri"/>
              </a:rPr>
              <a:t>Resultado del ejemplo del video: una probabilidad del 69% de estar enferma.</a:t>
            </a:r>
          </a:p>
          <a:p>
            <a:pPr marL="228600" lvl="1" indent="0">
              <a:spcAft>
                <a:spcPts val="0"/>
              </a:spcAft>
              <a:buNone/>
            </a:pPr>
            <a:r>
              <a:rPr lang="es-CO" sz="1700" b="0" i="0" noProof="0" dirty="0">
                <a:solidFill>
                  <a:srgbClr val="595959"/>
                </a:solidFill>
                <a:latin typeface="Calibri"/>
              </a:rPr>
              <a:t>Con el umbral habitual del 50%, a esta persona se le clasificaría como “enferma”.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000" b="1" noProof="0" dirty="0">
                <a:solidFill>
                  <a:schemeClr val="bg1"/>
                </a:solidFill>
              </a:rPr>
              <a:t>Tabla de clasificación: ¿qué tan bueno es el modelo?</a:t>
            </a:r>
            <a:endParaRPr lang="es-CO" b="1" noProof="0" dirty="0">
              <a:solidFill>
                <a:schemeClr val="bg1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7582202"/>
              </p:ext>
            </p:extLst>
          </p:nvPr>
        </p:nvGraphicFramePr>
        <p:xfrm>
          <a:off x="700000" y="1550000"/>
          <a:ext cx="10800000" cy="30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16666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endParaRPr lang="es-CO" noProof="0" dirty="0"/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s-CO" noProof="0" dirty="0"/>
                        <a:t>Predicho: no enfermo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s-CO" noProof="0" dirty="0"/>
                        <a:t>Predicho: enfermo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666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rPr lang="es-CO" noProof="0" dirty="0"/>
                        <a:t>Real: no enfermo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rPr lang="es-CO" noProof="0" dirty="0"/>
                        <a:t>11 (correctos)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rPr lang="es-CO" noProof="0" dirty="0"/>
                        <a:t>5 (error)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66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rPr lang="es-CO" noProof="0" dirty="0"/>
                        <a:t>Real: enfermo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rPr lang="es-CO" noProof="0" dirty="0"/>
                        <a:t>5 (error)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rPr lang="es-CO" noProof="0" dirty="0"/>
                        <a:t>15 (correctos)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00000" y="4750000"/>
            <a:ext cx="108000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s-CO" sz="1700" b="1" i="0" noProof="0" dirty="0">
                <a:solidFill>
                  <a:srgbClr val="1E2A4A"/>
                </a:solidFill>
                <a:latin typeface="Calibri"/>
              </a:rPr>
              <a:t>De 36 personas evaluadas, 26 fueron clasificadas correctamente: 72.2% de exactitud.</a:t>
            </a:r>
          </a:p>
          <a:p>
            <a:pPr marL="0" indent="0">
              <a:spcAft>
                <a:spcPts val="0"/>
              </a:spcAft>
              <a:buNone/>
            </a:pPr>
            <a:r>
              <a:rPr lang="es-CO" sz="1500" b="0" i="0" noProof="0" dirty="0">
                <a:solidFill>
                  <a:srgbClr val="595959"/>
                </a:solidFill>
                <a:latin typeface="Calibri"/>
              </a:rPr>
              <a:t>Regla de decisión: si el modelo estima una probabilidad mayor al 50%, se clasifica como “enfermo”; si no, como “no enfermo”.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000" b="1" noProof="0" dirty="0">
                <a:solidFill>
                  <a:schemeClr val="bg1"/>
                </a:solidFill>
              </a:rPr>
              <a:t>La prueba Chi-cuadrado: ¿es significativo el modelo?</a:t>
            </a:r>
            <a:endParaRPr lang="es-CO" b="1" noProof="0" dirty="0">
              <a:solidFill>
                <a:schemeClr val="bg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801A48F-12B2-05B2-C7F8-A4A4864EBAC0}"/>
              </a:ext>
            </a:extLst>
          </p:cNvPr>
          <p:cNvSpPr txBox="1"/>
          <p:nvPr/>
        </p:nvSpPr>
        <p:spPr>
          <a:xfrm>
            <a:off x="700000" y="1500000"/>
            <a:ext cx="10800000" cy="4350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28600" indent="-228600">
              <a:spcAft>
                <a:spcPts val="1400"/>
              </a:spcAft>
              <a:buFont typeface="Arial"/>
              <a:buChar char="•"/>
            </a:pPr>
            <a:r>
              <a:rPr lang="es-CO" sz="1900" b="0" i="0" noProof="0" dirty="0">
                <a:solidFill>
                  <a:srgbClr val="2B2B2B"/>
                </a:solidFill>
                <a:latin typeface="Calibri"/>
              </a:rPr>
              <a:t>Compara dos modelos: uno que usa todas las variables independientes y otro que no usa ninguna.</a:t>
            </a:r>
          </a:p>
          <a:p>
            <a:pPr marL="228600" indent="-228600">
              <a:spcAft>
                <a:spcPts val="1400"/>
              </a:spcAft>
              <a:buFont typeface="Arial"/>
              <a:buChar char="•"/>
            </a:pPr>
            <a:r>
              <a:rPr lang="es-CO" sz="1900" b="0" i="0" noProof="0" dirty="0">
                <a:solidFill>
                  <a:srgbClr val="2B2B2B"/>
                </a:solidFill>
                <a:latin typeface="Calibri"/>
              </a:rPr>
              <a:t>H0 (hipótesis nula): ambos modelos son iguales (las variables independientes no aportan nada).</a:t>
            </a:r>
          </a:p>
          <a:p>
            <a:pPr marL="228600" indent="-228600">
              <a:spcAft>
                <a:spcPts val="1400"/>
              </a:spcAft>
              <a:buFont typeface="Arial"/>
              <a:buChar char="•"/>
            </a:pPr>
            <a:r>
              <a:rPr lang="es-CO" sz="1900" b="1" i="0" noProof="0" dirty="0">
                <a:solidFill>
                  <a:srgbClr val="1E2A4A"/>
                </a:solidFill>
                <a:latin typeface="Calibri"/>
              </a:rPr>
              <a:t>Si el valor p de la prueba es menor a 0.05, rechazamos H0.</a:t>
            </a:r>
          </a:p>
          <a:p>
            <a:pPr marL="228600" indent="-228600">
              <a:spcAft>
                <a:spcPts val="0"/>
              </a:spcAft>
              <a:buFont typeface="Arial"/>
              <a:buChar char="•"/>
            </a:pPr>
            <a:r>
              <a:rPr lang="es-CO" sz="1900" b="0" i="0" noProof="0" dirty="0">
                <a:solidFill>
                  <a:srgbClr val="2B2B2B"/>
                </a:solidFill>
                <a:latin typeface="Calibri"/>
              </a:rPr>
              <a:t>Concluimos entonces que el modelo, en su conjunto, sí es significativo: las variables sí ayudan a explicar la enfermedad.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000" b="1" noProof="0" dirty="0">
                <a:solidFill>
                  <a:schemeClr val="bg1"/>
                </a:solidFill>
              </a:rPr>
              <a:t>¿Dónde se usa la regresión logística?</a:t>
            </a:r>
            <a:endParaRPr lang="es-CO" b="1" noProof="0" dirty="0">
              <a:solidFill>
                <a:schemeClr val="bg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801A48F-12B2-05B2-C7F8-A4A4864EBAC0}"/>
              </a:ext>
            </a:extLst>
          </p:cNvPr>
          <p:cNvSpPr txBox="1"/>
          <p:nvPr/>
        </p:nvSpPr>
        <p:spPr>
          <a:xfrm>
            <a:off x="700000" y="1500000"/>
            <a:ext cx="10800000" cy="4350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28600" indent="-228600">
              <a:spcAft>
                <a:spcPts val="1200"/>
              </a:spcAft>
              <a:buFont typeface="Arial"/>
              <a:buChar char="•"/>
            </a:pPr>
            <a:r>
              <a:rPr lang="es-CO" sz="1900" b="0" i="0" noProof="0" dirty="0">
                <a:solidFill>
                  <a:srgbClr val="2B2B2B"/>
                </a:solidFill>
                <a:latin typeface="Calibri"/>
              </a:rPr>
              <a:t>Salud: predecir si un paciente tiene o no una enfermedad, a partir de síntomas o exámenes.</a:t>
            </a:r>
          </a:p>
          <a:p>
            <a:pPr marL="228600" indent="-228600">
              <a:spcAft>
                <a:spcPts val="1200"/>
              </a:spcAft>
              <a:buFont typeface="Arial"/>
              <a:buChar char="•"/>
            </a:pPr>
            <a:r>
              <a:rPr lang="es-CO" sz="1900" b="0" i="0" noProof="0" dirty="0">
                <a:solidFill>
                  <a:srgbClr val="2B2B2B"/>
                </a:solidFill>
                <a:latin typeface="Calibri"/>
              </a:rPr>
              <a:t>Educación: predecir si un estudiante aprueba o reprueba una asignatura.</a:t>
            </a:r>
          </a:p>
          <a:p>
            <a:pPr marL="228600" indent="-228600">
              <a:spcAft>
                <a:spcPts val="1200"/>
              </a:spcAft>
              <a:buFont typeface="Arial"/>
              <a:buChar char="•"/>
            </a:pPr>
            <a:r>
              <a:rPr lang="es-CO" sz="1900" b="0" i="0" noProof="0" dirty="0">
                <a:solidFill>
                  <a:srgbClr val="2B2B2B"/>
                </a:solidFill>
                <a:latin typeface="Calibri"/>
              </a:rPr>
              <a:t>Finanzas: predecir si un cliente pagará o no un préstamo, o si una transacción es fraude.</a:t>
            </a:r>
          </a:p>
          <a:p>
            <a:pPr marL="228600" indent="-228600">
              <a:spcAft>
                <a:spcPts val="1200"/>
              </a:spcAft>
              <a:buFont typeface="Arial"/>
              <a:buChar char="•"/>
            </a:pPr>
            <a:r>
              <a:rPr lang="es-CO" sz="1900" b="0" i="0" noProof="0" dirty="0">
                <a:solidFill>
                  <a:srgbClr val="2B2B2B"/>
                </a:solidFill>
                <a:latin typeface="Calibri"/>
              </a:rPr>
              <a:t>Marketing: predecir si un cliente comprará un producto o cancelará un servicio.</a:t>
            </a:r>
          </a:p>
          <a:p>
            <a:pPr marL="228600" indent="-228600">
              <a:spcAft>
                <a:spcPts val="0"/>
              </a:spcAft>
              <a:buFont typeface="Arial"/>
              <a:buChar char="•"/>
            </a:pPr>
            <a:r>
              <a:rPr lang="es-CO" sz="1900" b="1" i="0" noProof="0" dirty="0">
                <a:solidFill>
                  <a:srgbClr val="1E2A4A"/>
                </a:solidFill>
                <a:latin typeface="Calibri"/>
              </a:rPr>
              <a:t>Inteligencia artificial: es la base conceptual de la neurona más simple de una red neuronal.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000" b="1" noProof="0" dirty="0">
                <a:solidFill>
                  <a:schemeClr val="bg1"/>
                </a:solidFill>
              </a:rPr>
              <a:t>Practica con una calculadora en línea</a:t>
            </a:r>
            <a:endParaRPr lang="es-CO" b="1" noProof="0" dirty="0">
              <a:solidFill>
                <a:schemeClr val="bg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801A48F-12B2-05B2-C7F8-A4A4864EBAC0}"/>
              </a:ext>
            </a:extLst>
          </p:cNvPr>
          <p:cNvSpPr txBox="1"/>
          <p:nvPr/>
        </p:nvSpPr>
        <p:spPr>
          <a:xfrm>
            <a:off x="700000" y="1500000"/>
            <a:ext cx="10800000" cy="4350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s-CO" sz="2200" b="1" i="0" noProof="0" dirty="0">
                <a:solidFill>
                  <a:srgbClr val="1E2A4A"/>
                </a:solidFill>
                <a:latin typeface="Calibri"/>
              </a:rPr>
              <a:t>numiqo.com – </a:t>
            </a:r>
            <a:r>
              <a:rPr lang="es-CO" sz="2200" b="1" i="0" noProof="0" dirty="0" err="1">
                <a:solidFill>
                  <a:srgbClr val="1E2A4A"/>
                </a:solidFill>
                <a:latin typeface="Calibri"/>
              </a:rPr>
              <a:t>Statistics</a:t>
            </a:r>
            <a:r>
              <a:rPr lang="es-CO" sz="2200" b="1" i="0" noProof="0" dirty="0">
                <a:solidFill>
                  <a:srgbClr val="1E2A4A"/>
                </a:solidFill>
                <a:latin typeface="Calibri"/>
              </a:rPr>
              <a:t> </a:t>
            </a:r>
            <a:r>
              <a:rPr lang="es-CO" sz="2200" b="1" i="0" noProof="0" dirty="0" err="1">
                <a:solidFill>
                  <a:srgbClr val="1E2A4A"/>
                </a:solidFill>
                <a:latin typeface="Calibri"/>
              </a:rPr>
              <a:t>Calculator</a:t>
            </a:r>
            <a:r>
              <a:rPr lang="es-CO" sz="2200" b="1" i="0" noProof="0" dirty="0">
                <a:solidFill>
                  <a:srgbClr val="1E2A4A"/>
                </a:solidFill>
                <a:latin typeface="Calibri"/>
              </a:rPr>
              <a:t> – </a:t>
            </a:r>
            <a:r>
              <a:rPr lang="es-CO" sz="2200" b="1" i="0" noProof="0" dirty="0" err="1">
                <a:solidFill>
                  <a:srgbClr val="1E2A4A"/>
                </a:solidFill>
                <a:latin typeface="Calibri"/>
              </a:rPr>
              <a:t>Regression</a:t>
            </a:r>
            <a:endParaRPr lang="es-CO" sz="2200" b="1" i="0" noProof="0" dirty="0">
              <a:solidFill>
                <a:srgbClr val="1E2A4A"/>
              </a:solidFill>
              <a:latin typeface="Calibri"/>
            </a:endParaRPr>
          </a:p>
          <a:p>
            <a:pPr marL="0" indent="0">
              <a:spcAft>
                <a:spcPts val="1800"/>
              </a:spcAft>
              <a:buNone/>
            </a:pPr>
            <a:r>
              <a:rPr lang="es-CO" sz="1600" b="0" i="1" noProof="0" dirty="0">
                <a:solidFill>
                  <a:srgbClr val="595959"/>
                </a:solidFill>
                <a:latin typeface="Calibri"/>
              </a:rPr>
              <a:t>numiqo.com/</a:t>
            </a:r>
            <a:r>
              <a:rPr lang="es-CO" sz="1600" b="0" i="1" noProof="0" dirty="0" err="1">
                <a:solidFill>
                  <a:srgbClr val="595959"/>
                </a:solidFill>
                <a:latin typeface="Calibri"/>
              </a:rPr>
              <a:t>statistics-calculator</a:t>
            </a:r>
            <a:r>
              <a:rPr lang="es-CO" sz="1600" b="0" i="1" noProof="0" dirty="0">
                <a:solidFill>
                  <a:srgbClr val="595959"/>
                </a:solidFill>
                <a:latin typeface="Calibri"/>
              </a:rPr>
              <a:t>/</a:t>
            </a:r>
            <a:r>
              <a:rPr lang="es-CO" sz="1600" b="0" i="1" noProof="0" dirty="0" err="1">
                <a:solidFill>
                  <a:srgbClr val="595959"/>
                </a:solidFill>
                <a:latin typeface="Calibri"/>
              </a:rPr>
              <a:t>regression</a:t>
            </a:r>
            <a:endParaRPr lang="es-CO" sz="1600" b="0" i="1" noProof="0" dirty="0">
              <a:solidFill>
                <a:srgbClr val="595959"/>
              </a:solidFill>
              <a:latin typeface="Calibri"/>
            </a:endParaRPr>
          </a:p>
          <a:p>
            <a:pPr marL="228600" indent="-228600">
              <a:spcAft>
                <a:spcPts val="1200"/>
              </a:spcAft>
              <a:buFont typeface="Arial"/>
              <a:buChar char="•"/>
            </a:pPr>
            <a:r>
              <a:rPr lang="es-CO" sz="1900" b="0" i="0" noProof="0" dirty="0">
                <a:solidFill>
                  <a:srgbClr val="2B2B2B"/>
                </a:solidFill>
                <a:latin typeface="Calibri"/>
              </a:rPr>
              <a:t>Permite pegar tus propios datos y calcular una regresión (lineal o logística) sin programar.</a:t>
            </a:r>
          </a:p>
          <a:p>
            <a:pPr marL="228600" indent="-228600">
              <a:spcAft>
                <a:spcPts val="1200"/>
              </a:spcAft>
              <a:buFont typeface="Arial"/>
              <a:buChar char="•"/>
            </a:pPr>
            <a:r>
              <a:rPr lang="es-CO" sz="1900" b="0" i="0" noProof="0" dirty="0">
                <a:solidFill>
                  <a:srgbClr val="2B2B2B"/>
                </a:solidFill>
                <a:latin typeface="Calibri"/>
              </a:rPr>
              <a:t>Úsala para comprobar tus cálculos a mano: coeficientes, valor p y razón de momios (</a:t>
            </a:r>
            <a:r>
              <a:rPr lang="es-CO" sz="1900" b="0" i="0" noProof="0" dirty="0" err="1">
                <a:solidFill>
                  <a:srgbClr val="2B2B2B"/>
                </a:solidFill>
                <a:latin typeface="Calibri"/>
              </a:rPr>
              <a:t>odds</a:t>
            </a:r>
            <a:r>
              <a:rPr lang="es-CO" sz="1900" b="0" i="0" noProof="0" dirty="0">
                <a:solidFill>
                  <a:srgbClr val="2B2B2B"/>
                </a:solidFill>
                <a:latin typeface="Calibri"/>
              </a:rPr>
              <a:t> ratio).</a:t>
            </a:r>
          </a:p>
          <a:p>
            <a:pPr marL="228600" indent="-228600">
              <a:spcAft>
                <a:spcPts val="0"/>
              </a:spcAft>
              <a:buFont typeface="Arial"/>
              <a:buChar char="•"/>
            </a:pPr>
            <a:r>
              <a:rPr lang="es-CO" sz="1900" b="0" i="0" noProof="0" dirty="0">
                <a:solidFill>
                  <a:srgbClr val="2B2B2B"/>
                </a:solidFill>
                <a:latin typeface="Calibri"/>
              </a:rPr>
              <a:t>Reto en clase: recrea el ejemplo de la enfermedad (edad, sexo, hábito de fumar) y compara tus resultados con los de esta presentación.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000" b="1" noProof="0" dirty="0">
                <a:solidFill>
                  <a:schemeClr val="bg1"/>
                </a:solidFill>
              </a:rPr>
              <a:t>Resumen: ideas clave</a:t>
            </a:r>
            <a:endParaRPr lang="es-CO" b="1" noProof="0" dirty="0">
              <a:solidFill>
                <a:schemeClr val="bg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801A48F-12B2-05B2-C7F8-A4A4864EBAC0}"/>
              </a:ext>
            </a:extLst>
          </p:cNvPr>
          <p:cNvSpPr txBox="1"/>
          <p:nvPr/>
        </p:nvSpPr>
        <p:spPr>
          <a:xfrm>
            <a:off x="700000" y="1500000"/>
            <a:ext cx="10800000" cy="4350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lang="es-CO" sz="1800" b="0" i="0" noProof="0" dirty="0">
                <a:solidFill>
                  <a:srgbClr val="2B2B2B"/>
                </a:solidFill>
                <a:latin typeface="Calibri"/>
              </a:rPr>
              <a:t>La regresión logística predice la probabilidad de un evento binario (0/1), no un número continuo.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lang="es-CO" sz="1800" b="0" i="0" noProof="0" dirty="0">
                <a:solidFill>
                  <a:srgbClr val="2B2B2B"/>
                </a:solidFill>
                <a:latin typeface="Calibri"/>
              </a:rPr>
              <a:t>Usa la función logística (curva en “S”) para que el resultado siempre esté entre 0 y 1.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lang="es-CO" sz="1800" b="0" i="0" noProof="0" dirty="0">
                <a:solidFill>
                  <a:srgbClr val="2B2B2B"/>
                </a:solidFill>
                <a:latin typeface="Calibri"/>
              </a:rPr>
              <a:t>Los coeficientes se calculan por máxima verosimilitud, no por mínimos cuadrados.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lang="es-CO" sz="1800" b="0" i="0" noProof="0" dirty="0">
                <a:solidFill>
                  <a:srgbClr val="2B2B2B"/>
                </a:solidFill>
                <a:latin typeface="Calibri"/>
              </a:rPr>
              <a:t>Se interpretan con el coeficiente B, el valor p y la razón de momios (</a:t>
            </a:r>
            <a:r>
              <a:rPr lang="es-CO" sz="1800" b="0" i="0" noProof="0" dirty="0" err="1">
                <a:solidFill>
                  <a:srgbClr val="2B2B2B"/>
                </a:solidFill>
                <a:latin typeface="Calibri"/>
              </a:rPr>
              <a:t>odds</a:t>
            </a:r>
            <a:r>
              <a:rPr lang="es-CO" sz="1800" b="0" i="0" noProof="0" dirty="0">
                <a:solidFill>
                  <a:srgbClr val="2B2B2B"/>
                </a:solidFill>
                <a:latin typeface="Calibri"/>
              </a:rPr>
              <a:t> ratio = </a:t>
            </a:r>
            <a:r>
              <a:rPr lang="es-CO" sz="1800" b="0" i="0" noProof="0" dirty="0" err="1">
                <a:solidFill>
                  <a:srgbClr val="2B2B2B"/>
                </a:solidFill>
                <a:latin typeface="Calibri"/>
              </a:rPr>
              <a:t>e^B</a:t>
            </a:r>
            <a:r>
              <a:rPr lang="es-CO" sz="1800" b="0" i="0" noProof="0" dirty="0">
                <a:solidFill>
                  <a:srgbClr val="2B2B2B"/>
                </a:solidFill>
                <a:latin typeface="Calibri"/>
              </a:rPr>
              <a:t>).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lang="es-CO" sz="1800" b="0" i="0" noProof="0" dirty="0">
                <a:solidFill>
                  <a:srgbClr val="2B2B2B"/>
                </a:solidFill>
                <a:latin typeface="Calibri"/>
              </a:rPr>
              <a:t>El desempeño del modelo se evalúa con la tabla de clasificación y la prueba chi-cuadrado.</a:t>
            </a:r>
          </a:p>
          <a:p>
            <a:pPr marL="228600" indent="-228600">
              <a:spcAft>
                <a:spcPts val="0"/>
              </a:spcAft>
              <a:buFont typeface="Arial"/>
              <a:buChar char="•"/>
            </a:pPr>
            <a:r>
              <a:rPr lang="es-CO" sz="1800" b="1" i="0" noProof="0" dirty="0">
                <a:solidFill>
                  <a:srgbClr val="1E2A4A"/>
                </a:solidFill>
                <a:latin typeface="Calibri"/>
              </a:rPr>
              <a:t>Es, en esencia, la neurona más simple de una red neuronal: la base de la clasificación en IA.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F0582-A42C-89D1-6349-34B62560D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9651F4F8-844E-4031-9C4A-A77D2E60C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000" b="1" noProof="0" dirty="0">
                <a:solidFill>
                  <a:schemeClr val="bg1"/>
                </a:solidFill>
              </a:rPr>
              <a:t>Bibliografía</a:t>
            </a:r>
            <a:endParaRPr lang="es-CO" b="1" noProof="0" dirty="0">
              <a:solidFill>
                <a:schemeClr val="bg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90D0FDB-FDAB-B1F0-EE47-92E5DCEDD857}"/>
              </a:ext>
            </a:extLst>
          </p:cNvPr>
          <p:cNvSpPr txBox="1"/>
          <p:nvPr/>
        </p:nvSpPr>
        <p:spPr>
          <a:xfrm>
            <a:off x="700000" y="1500000"/>
            <a:ext cx="10800000" cy="7745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lang="es-CO" sz="1800" b="0" i="0" noProof="0" dirty="0">
                <a:solidFill>
                  <a:srgbClr val="2B2B2B"/>
                </a:solidFill>
                <a:latin typeface="Calibri"/>
              </a:rPr>
              <a:t>Regresión logística</a:t>
            </a:r>
          </a:p>
          <a:p>
            <a:pPr>
              <a:spcAft>
                <a:spcPts val="1000"/>
              </a:spcAft>
            </a:pPr>
            <a:r>
              <a:rPr lang="es-CO" dirty="0">
                <a:solidFill>
                  <a:srgbClr val="2B2B2B"/>
                </a:solidFill>
                <a:latin typeface="Calibri"/>
              </a:rPr>
              <a:t>https://youtu.be/mjbWGx6Xgvg?si=grHBtJxTL_aTHXSs</a:t>
            </a:r>
            <a:endParaRPr lang="es-CO" sz="1800" b="0" i="0" noProof="0" dirty="0">
              <a:solidFill>
                <a:srgbClr val="2B2B2B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373757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EFB09-AAE8-62F0-3A62-E003F41D3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6FFB1F00-BE97-BE98-7D23-907738D05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57" y="1895"/>
            <a:ext cx="12192000" cy="68580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CF2E2F08-52A4-C49F-8F6A-FFD7963C46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73493" y="352325"/>
            <a:ext cx="4193066" cy="1261802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D4F57740-2D4F-3CF9-5FAE-C46DADEBE4AF}"/>
              </a:ext>
            </a:extLst>
          </p:cNvPr>
          <p:cNvSpPr txBox="1"/>
          <p:nvPr/>
        </p:nvSpPr>
        <p:spPr>
          <a:xfrm>
            <a:off x="423578" y="4402909"/>
            <a:ext cx="110163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800" b="1" i="0" noProof="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ptos Narrow" panose="020B0004020202020204" pitchFamily="34" charset="0"/>
              </a:rPr>
              <a:t>www.uniminuto.edu</a:t>
            </a:r>
            <a:r>
              <a:rPr lang="es-CO" sz="2800" b="1" i="0" noProof="0" dirty="0">
                <a:solidFill>
                  <a:srgbClr val="FEBE05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ptos Narrow" panose="020B0004020202020204" pitchFamily="34" charset="0"/>
              </a:rPr>
              <a:t>/uniminuto-virtual</a:t>
            </a:r>
            <a:endParaRPr lang="es-CO" sz="2800" b="1" noProof="0" dirty="0">
              <a:solidFill>
                <a:srgbClr val="FEBE05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3906353-C08E-4548-090D-A1EBFD47B7BF}"/>
              </a:ext>
            </a:extLst>
          </p:cNvPr>
          <p:cNvSpPr txBox="1"/>
          <p:nvPr/>
        </p:nvSpPr>
        <p:spPr>
          <a:xfrm>
            <a:off x="3535712" y="1938579"/>
            <a:ext cx="5784486" cy="1203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CO" sz="8000" b="1" kern="100" noProof="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GRACIAS</a:t>
            </a:r>
          </a:p>
        </p:txBody>
      </p:sp>
      <p:pic>
        <p:nvPicPr>
          <p:cNvPr id="17" name="Picture 4">
            <a:extLst>
              <a:ext uri="{FF2B5EF4-FFF2-40B4-BE49-F238E27FC236}">
                <a16:creationId xmlns:a16="http://schemas.microsoft.com/office/drawing/2014/main" id="{0A3E55B8-D253-DBAD-1101-11B3FFFC13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/>
          <a:srcRect l="1043" t="-3087" r="-3874" b="-2265"/>
          <a:stretch/>
        </p:blipFill>
        <p:spPr bwMode="auto">
          <a:xfrm rot="254132">
            <a:off x="1873003" y="1932882"/>
            <a:ext cx="2224970" cy="121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492E92B6-11F2-A11D-1E16-791654733331}"/>
              </a:ext>
            </a:extLst>
          </p:cNvPr>
          <p:cNvSpPr/>
          <p:nvPr/>
        </p:nvSpPr>
        <p:spPr>
          <a:xfrm>
            <a:off x="160357" y="921392"/>
            <a:ext cx="7401413" cy="122575"/>
          </a:xfrm>
          <a:prstGeom prst="rect">
            <a:avLst/>
          </a:prstGeom>
          <a:solidFill>
            <a:srgbClr val="FEBE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DB3FEE3-64D0-772A-0A61-D11F12ECF337}"/>
              </a:ext>
            </a:extLst>
          </p:cNvPr>
          <p:cNvSpPr txBox="1"/>
          <p:nvPr/>
        </p:nvSpPr>
        <p:spPr>
          <a:xfrm>
            <a:off x="2985950" y="3172713"/>
            <a:ext cx="6142437" cy="1167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000"/>
              </a:lnSpc>
            </a:pPr>
            <a:r>
              <a:rPr lang="es-CO" b="1" noProof="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   </a:t>
            </a:r>
            <a:r>
              <a:rPr lang="es-CO" sz="1600" b="1" noProof="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Educamos sin fronteras transformándonos para el futuro con </a:t>
            </a:r>
          </a:p>
          <a:p>
            <a:pPr>
              <a:lnSpc>
                <a:spcPts val="4000"/>
              </a:lnSpc>
            </a:pPr>
            <a:r>
              <a:rPr lang="es-CO" sz="4400" b="1" noProof="0" dirty="0">
                <a:solidFill>
                  <a:srgbClr val="FEBE05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    CALIDAD Y CALIDEZ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BB92EF03-AA5F-BDC6-8DD7-15962ED544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34883" y="5628381"/>
            <a:ext cx="1427032" cy="784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1779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1890</Words>
  <Application>Microsoft Office PowerPoint</Application>
  <PresentationFormat>Panorámica</PresentationFormat>
  <Paragraphs>148</Paragraphs>
  <Slides>28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28</vt:i4>
      </vt:variant>
    </vt:vector>
  </HeadingPairs>
  <TitlesOfParts>
    <vt:vector size="39" baseType="lpstr">
      <vt:lpstr>Aptos</vt:lpstr>
      <vt:lpstr>Aptos Display</vt:lpstr>
      <vt:lpstr>Aptos Narrow</vt:lpstr>
      <vt:lpstr>Arial</vt:lpstr>
      <vt:lpstr>Calibri</vt:lpstr>
      <vt:lpstr>Calibri Light</vt:lpstr>
      <vt:lpstr>Cardana</vt:lpstr>
      <vt:lpstr>Century Gothic</vt:lpstr>
      <vt:lpstr>DM Sans Bold</vt:lpstr>
      <vt:lpstr>Tema de Office</vt:lpstr>
      <vt:lpstr>Office Theme</vt:lpstr>
      <vt:lpstr>REGRESIÓN LOGÍSTICA: CONCEPTOS BÁSICOS</vt:lpstr>
      <vt:lpstr>Presentación de PowerPoint</vt:lpstr>
      <vt:lpstr>¿Qué es una regresión?</vt:lpstr>
      <vt:lpstr>Regresión lineal vs. regresión logística</vt:lpstr>
      <vt:lpstr>La variable dicotómica: el ejemplo de la enfermedad</vt:lpstr>
      <vt:lpstr>¿Por qué no basta la regresión lineal?</vt:lpstr>
      <vt:lpstr>Conjunto de datos</vt:lpstr>
      <vt:lpstr>Influencia de las variables independientes</vt:lpstr>
      <vt:lpstr>Pregunta</vt:lpstr>
      <vt:lpstr>En la regresión lineal tenemos</vt:lpstr>
      <vt:lpstr>En la regresión lineal tenemos</vt:lpstr>
      <vt:lpstr>En la regresión logística tenemos</vt:lpstr>
      <vt:lpstr>En la regresión logística tenemos</vt:lpstr>
      <vt:lpstr>En la regresión logística tenemos</vt:lpstr>
      <vt:lpstr>Ecuación de la función logística</vt:lpstr>
      <vt:lpstr>En la regresión logística tenemos</vt:lpstr>
      <vt:lpstr>En la regresión logística tenemos</vt:lpstr>
      <vt:lpstr>La función logística: la curva en forma de S</vt:lpstr>
      <vt:lpstr>¿Cómo se calculan los coeficientes?</vt:lpstr>
      <vt:lpstr>Interpretar los resultados: B, valor p y razón de momios</vt:lpstr>
      <vt:lpstr>Ejemplo numérico paso a paso</vt:lpstr>
      <vt:lpstr>Tabla de clasificación: ¿qué tan bueno es el modelo?</vt:lpstr>
      <vt:lpstr>La prueba Chi-cuadrado: ¿es significativo el modelo?</vt:lpstr>
      <vt:lpstr>¿Dónde se usa la regresión logística?</vt:lpstr>
      <vt:lpstr>Practica con una calculadora en línea</vt:lpstr>
      <vt:lpstr>Resumen: ideas clave</vt:lpstr>
      <vt:lpstr>Bibliografía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LINA MARCELA NIETO ALBA</dc:creator>
  <cp:lastModifiedBy>Cesar Alfonso</cp:lastModifiedBy>
  <cp:revision>75</cp:revision>
  <dcterms:created xsi:type="dcterms:W3CDTF">2024-01-22T15:06:30Z</dcterms:created>
  <dcterms:modified xsi:type="dcterms:W3CDTF">2026-08-19T21:58:24Z</dcterms:modified>
</cp:coreProperties>
</file>